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73" r:id="rId2"/>
    <p:sldId id="275" r:id="rId3"/>
    <p:sldId id="274" r:id="rId4"/>
    <p:sldId id="259" r:id="rId5"/>
    <p:sldId id="276" r:id="rId6"/>
    <p:sldId id="277" r:id="rId7"/>
    <p:sldId id="261" r:id="rId8"/>
    <p:sldId id="267" r:id="rId9"/>
    <p:sldId id="263" r:id="rId10"/>
    <p:sldId id="268" r:id="rId11"/>
    <p:sldId id="272" r:id="rId12"/>
    <p:sldId id="269" r:id="rId13"/>
    <p:sldId id="265" r:id="rId14"/>
    <p:sldId id="278" r:id="rId15"/>
    <p:sldId id="270" r:id="rId16"/>
    <p:sldId id="279" r:id="rId17"/>
    <p:sldId id="271" r:id="rId18"/>
    <p:sldId id="266" r:id="rId19"/>
  </p:sldIdLst>
  <p:sldSz cx="18288000" cy="10287000"/>
  <p:notesSz cx="6858000" cy="9144000"/>
  <p:embeddedFontLst>
    <p:embeddedFont>
      <p:font typeface="Bai Jamjuree" panose="020B0604020202020204" charset="-34"/>
      <p:regular r:id="rId21"/>
    </p:embeddedFont>
    <p:embeddedFont>
      <p:font typeface="Bai Jamjuree Bold" panose="020B0604020202020204" charset="-34"/>
      <p:regular r:id="rId22"/>
    </p:embeddedFont>
    <p:embeddedFont>
      <p:font typeface="DC-Monument Extended Ultrabold" pitchFamily="50" charset="0"/>
      <p:bold r:id="rId23"/>
    </p:embeddedFont>
    <p:embeddedFont>
      <p:font typeface="UTM Aircona" panose="02040603050506020204" pitchFamily="18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C54"/>
    <a:srgbClr val="002060"/>
    <a:srgbClr val="353535"/>
    <a:srgbClr val="0F104B"/>
    <a:srgbClr val="004AAD"/>
    <a:srgbClr val="F8F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437" autoAdjust="0"/>
  </p:normalViewPr>
  <p:slideViewPr>
    <p:cSldViewPr>
      <p:cViewPr>
        <p:scale>
          <a:sx n="33" d="100"/>
          <a:sy n="33" d="100"/>
        </p:scale>
        <p:origin x="1978" y="6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43820-210E-A935-29EB-51207E71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B9D424-C525-C43A-7CE1-75C769B5C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D82FF-55E5-AE81-DC8A-76DB595B7B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8C6BBA-256E-B27D-E02E-EC176C635E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B15B918-54C4-AB60-6519-B96A1B49D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Good morning teacher,</a:t>
            </a:r>
          </a:p>
          <a:p>
            <a:endParaRPr lang="en-US"/>
          </a:p>
          <a:p>
            <a:r>
              <a:rPr lang="en-US"/>
              <a:t>My name is Nguyen Thi Dung, and today I will present my topic: "A REAL-TIME MONITORING APPLICATION FOR GLUCOSE LEVELS OF DIABETIC  PATIENTS, under the guidance of Dr. Nguyen Thanh Binh.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B109E-8EF8-6614-6164-19E788B66D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CA7BA-7C80-FFD0-C3A6-5E476905B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79716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FBB8C-CBAF-409F-ADB1-D01A50DFD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4133EC-43F8-93EB-EBF9-82AABCC51E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69F79-96F7-F6FC-0B0D-B7FB202AD4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27F4D79-5BB6-BEA2-8885-B4F26F6368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D7913C5-EA42-3D8D-0E11-33C60774D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A83CB-49DF-9F26-7F2A-5AF8DDD3D1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19653-19BE-A12F-0043-8940F4A16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04350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C6289-DCD4-037E-B919-9F039B0BA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E9F480-ABEA-DBF5-D419-7585AC7AE1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551ED-73DE-1CEF-56F5-17F8C6C2134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0493340-AB13-1E8E-04FF-81BBA6060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1466750-E28C-0236-F394-7E1B00E57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16468-3653-267D-1951-519344C210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82B2D-42A6-EF41-3060-714C2B2D8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1396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9CF28-B546-EF03-C584-5EFD6333C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DB78A-4166-C137-9531-8AC1F6F683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FBF44-42C0-B7C0-8DC2-89A16C23AC8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E0BD92A-19DD-EF1B-5009-B7127529B9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8DB9164-592D-BD24-77D6-FD90B6B636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11671-5760-E044-FDD2-DF73B2C958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F65B-D12E-5E09-FD6B-9D5B1BED0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61726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A915-A75F-DC64-DA82-4186EB86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7D461B-2981-5C6D-FC1D-50A208A397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FA5086-5829-00D9-5A99-CD1FC032C70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0E4BFCD-FCC7-3559-C697-D8E3B88695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0D9CF27-C8F3-676C-2A2B-1C3E23DD7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80C68-CA96-7A1F-F4A8-FFA92C8E5D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87108-92A9-ED18-487D-6B709C929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22345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4BA0-744A-9D8E-6530-C12A091D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501DB0-9C90-1B7E-9FC8-7C95B344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C1C55-C1C7-95E3-7BE6-FA6238BE6D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2745FD-5A9E-F5BA-63D1-488ED7FDF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5EECC7F-1E30-72BC-FC58-CC7C00F87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9CDA2-C5AA-1DEF-2903-7629BAB6AE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B9708-3172-3210-BD2D-03FBC05E0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73936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60A1-93B3-35ED-3BFD-946AA9CFC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F25C88-5FA4-0097-FAB2-335C419063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82CB5-CE2A-E977-B211-3494A81B66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909FE2F-76E1-BFF1-889A-E6ACBF01EA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54B1527-508C-FD66-E77D-C47146B37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13B68-126E-59C7-8E3F-626651EC4D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4A7AD-748B-4E66-EAEB-E052AF604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6042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49E9C-C745-4D88-CFAD-9A31381DE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600920-D3BD-6B4E-1714-53F995289F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A80C5-05FE-DF3E-16B4-504276FCA6E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D7E56E-30B7-DFE0-B522-7595F78B0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4955F3-F48C-E4F1-671F-18483181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28F07-F46F-5BAD-8790-C2588729FB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537FB-1102-11A5-76C6-1172BD405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77010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CB6BC-6F6D-3C6C-5957-ED08FEF7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797F7A-50A4-FDE6-ECA2-C0453F1434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14B10C-B0F4-4D13-3689-19CFA79BEBB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65A4184-7F7A-562B-DD8A-358E4A051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E5364DE-AED1-14F3-BC96-941C027B1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BF958-490D-5BE0-7ED1-24372701BD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ACA02-7953-23E3-886D-13591D9B4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5630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90099-3D22-2140-DF4A-2815EB89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D9F9B9-072B-16B8-C050-358FBFA737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0483E-296E-BDB1-D282-7FA400D5CA3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8410A93-3A6A-428C-C3A0-343B02F6C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DB307E-1A28-9D7C-53EF-50C14D04D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79C12-C081-EFC0-9ECA-FF6DD0F6AF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01560-DEBE-E9F4-5D19-49643D670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80644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B932F-F082-647D-0118-5631E107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BBE13F-CF43-BF01-34BD-805432CDE8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8F27C-D249-7F8C-56F6-E6AC4AFCF21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B05F228-F980-3EE8-168A-06AC7CB69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65C9FB1-7E58-EED2-AC65-0BB551251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 quả này chỉ đại diện khi dùng 5 lần </a:t>
            </a:r>
            <a:r>
              <a:rPr lang="vi-V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vi-V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với 5 </a:t>
            </a:r>
            <a:r>
              <a:rPr lang="vi-V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random_state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khác nhau, chưa đại diện khi dùng 1 lần </a:t>
            </a:r>
            <a:r>
              <a:rPr lang="vi-V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vi-V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với </a:t>
            </a:r>
            <a:r>
              <a:rPr lang="vi-V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cross-validation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khi </a:t>
            </a:r>
            <a:r>
              <a:rPr lang="vi-V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60A5B-DDAC-BF3B-4BCA-DDD1008090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5B120-7D82-ED3B-DD20-61D2A3AC6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86658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510F-4864-D4E3-8DA0-151BE3E4A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56030E-DFC4-4FC3-E9DB-C5AFFAC3DF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E1726-0505-73D0-777A-C5E501E68D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D5A168A-7573-9B84-9DD3-09737E49B0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C492FA6-D5F6-0C1F-AB7B-A57CEB542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DF577-4125-4C72-3DDD-62D6FE2A11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6BC86-994A-7124-71BD-B13360BE6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06336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FADAC-4CFD-2E2A-BAA6-21431A02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72CB10-EF9D-1FCC-7588-238DBFE40E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66E7C-3EC1-091B-A397-5CB51A24725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1A39697-5CD4-8614-6079-F0AB79A15E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CC8FCFE-7911-CEE8-A835-363AF0DF9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F15D9-9235-3997-F956-5281CB43A3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33E27-E2DC-F0D8-CF19-E1E23C65A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185502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8.png"/><Relationship Id="rId5" Type="http://schemas.openxmlformats.org/officeDocument/2006/relationships/image" Target="../media/image3.svg"/><Relationship Id="rId10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10.sv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5.svg"/><Relationship Id="rId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10.sv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10.sv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5.svg"/><Relationship Id="rId5" Type="http://schemas.openxmlformats.org/officeDocument/2006/relationships/image" Target="../media/image18.svg"/><Relationship Id="rId10" Type="http://schemas.openxmlformats.org/officeDocument/2006/relationships/image" Target="../media/image20.svg"/><Relationship Id="rId4" Type="http://schemas.openxmlformats.org/officeDocument/2006/relationships/image" Target="../media/image17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0.svg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0.svg"/><Relationship Id="rId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5.svg"/><Relationship Id="rId5" Type="http://schemas.openxmlformats.org/officeDocument/2006/relationships/image" Target="../media/image18.svg"/><Relationship Id="rId10" Type="http://schemas.openxmlformats.org/officeDocument/2006/relationships/image" Target="../media/image20.svg"/><Relationship Id="rId4" Type="http://schemas.openxmlformats.org/officeDocument/2006/relationships/image" Target="../media/image17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5.svg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3.png"/><Relationship Id="rId5" Type="http://schemas.openxmlformats.org/officeDocument/2006/relationships/image" Target="../media/image18.svg"/><Relationship Id="rId10" Type="http://schemas.microsoft.com/office/2007/relationships/hdphoto" Target="../media/hdphoto1.wdp"/><Relationship Id="rId4" Type="http://schemas.openxmlformats.org/officeDocument/2006/relationships/image" Target="../media/image17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24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0.svg"/><Relationship Id="rId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24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0.svg"/><Relationship Id="rId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10.svg"/><Relationship Id="rId9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0.svg"/><Relationship Id="rId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10.svg"/><Relationship Id="rId9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5.svg"/><Relationship Id="rId5" Type="http://schemas.openxmlformats.org/officeDocument/2006/relationships/image" Target="../media/image18.svg"/><Relationship Id="rId10" Type="http://schemas.openxmlformats.org/officeDocument/2006/relationships/image" Target="../media/image20.svg"/><Relationship Id="rId4" Type="http://schemas.openxmlformats.org/officeDocument/2006/relationships/image" Target="../media/image17.png"/><Relationship Id="rId9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png"/><Relationship Id="rId7" Type="http://schemas.openxmlformats.org/officeDocument/2006/relationships/image" Target="../media/image18.sv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3E200-E0B5-E31A-497A-3884F334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186345-90F6-A408-8ACE-2F6CEC906BF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735" b="-4973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DB5888D-1C62-2CDB-CAB6-30873621FC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-5400000">
            <a:off x="-3679225" y="6281297"/>
            <a:ext cx="7709841" cy="5907665"/>
          </a:xfrm>
          <a:custGeom>
            <a:avLst/>
            <a:gdLst/>
            <a:ahLst/>
            <a:cxnLst/>
            <a:rect l="l" t="t" r="r" b="b"/>
            <a:pathLst>
              <a:path w="7709841" h="5907665">
                <a:moveTo>
                  <a:pt x="0" y="0"/>
                </a:moveTo>
                <a:lnTo>
                  <a:pt x="7709841" y="0"/>
                </a:lnTo>
                <a:lnTo>
                  <a:pt x="7709841" y="5907666"/>
                </a:lnTo>
                <a:lnTo>
                  <a:pt x="0" y="5907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9F7808B-203A-A72D-4063-5B00D2184496}"/>
              </a:ext>
            </a:extLst>
          </p:cNvPr>
          <p:cNvSpPr/>
          <p:nvPr/>
        </p:nvSpPr>
        <p:spPr>
          <a:xfrm>
            <a:off x="-3550727" y="7145792"/>
            <a:ext cx="6339453" cy="5998708"/>
          </a:xfrm>
          <a:custGeom>
            <a:avLst/>
            <a:gdLst/>
            <a:ahLst/>
            <a:cxnLst/>
            <a:rect l="l" t="t" r="r" b="b"/>
            <a:pathLst>
              <a:path w="6339453" h="5998708">
                <a:moveTo>
                  <a:pt x="0" y="0"/>
                </a:moveTo>
                <a:lnTo>
                  <a:pt x="6339454" y="0"/>
                </a:lnTo>
                <a:lnTo>
                  <a:pt x="6339454" y="5998708"/>
                </a:lnTo>
                <a:lnTo>
                  <a:pt x="0" y="5998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ADAD39F-F62A-6A73-9B88-FD6E2BD92D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-10800000" flipV="1">
            <a:off x="15397762" y="-1724903"/>
            <a:ext cx="5985164" cy="4114800"/>
          </a:xfrm>
          <a:custGeom>
            <a:avLst/>
            <a:gdLst/>
            <a:ahLst/>
            <a:cxnLst/>
            <a:rect l="l" t="t" r="r" b="b"/>
            <a:pathLst>
              <a:path w="5985164" h="4114800">
                <a:moveTo>
                  <a:pt x="0" y="4114800"/>
                </a:moveTo>
                <a:lnTo>
                  <a:pt x="5985164" y="4114800"/>
                </a:lnTo>
                <a:lnTo>
                  <a:pt x="598516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BC4D4FE-EFCB-0EE3-46D8-EAF5A89BBD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-10800000">
            <a:off x="12069627" y="8882819"/>
            <a:ext cx="6206323" cy="1404181"/>
          </a:xfrm>
          <a:custGeom>
            <a:avLst/>
            <a:gdLst/>
            <a:ahLst/>
            <a:cxnLst/>
            <a:rect l="l" t="t" r="r" b="b"/>
            <a:pathLst>
              <a:path w="6206323" h="1404181">
                <a:moveTo>
                  <a:pt x="0" y="0"/>
                </a:moveTo>
                <a:lnTo>
                  <a:pt x="6206323" y="0"/>
                </a:lnTo>
                <a:lnTo>
                  <a:pt x="6206323" y="1404181"/>
                </a:lnTo>
                <a:lnTo>
                  <a:pt x="0" y="1404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547A858-3E91-4BAA-4AD7-EC99F6632E24}"/>
              </a:ext>
            </a:extLst>
          </p:cNvPr>
          <p:cNvSpPr/>
          <p:nvPr/>
        </p:nvSpPr>
        <p:spPr>
          <a:xfrm>
            <a:off x="-1335454" y="-526204"/>
            <a:ext cx="8929965" cy="2466903"/>
          </a:xfrm>
          <a:custGeom>
            <a:avLst/>
            <a:gdLst/>
            <a:ahLst/>
            <a:cxnLst/>
            <a:rect l="l" t="t" r="r" b="b"/>
            <a:pathLst>
              <a:path w="8929965" h="2466903">
                <a:moveTo>
                  <a:pt x="0" y="0"/>
                </a:moveTo>
                <a:lnTo>
                  <a:pt x="8929965" y="0"/>
                </a:lnTo>
                <a:lnTo>
                  <a:pt x="8929965" y="2466903"/>
                </a:lnTo>
                <a:lnTo>
                  <a:pt x="0" y="24669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E2AE798-2719-E93D-7499-380173B7D83A}"/>
              </a:ext>
            </a:extLst>
          </p:cNvPr>
          <p:cNvSpPr txBox="1"/>
          <p:nvPr/>
        </p:nvSpPr>
        <p:spPr>
          <a:xfrm>
            <a:off x="1391567" y="2528649"/>
            <a:ext cx="15688640" cy="406265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4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NGHIÊN CỨU SO SÁNH CÁC MÔ HÌNH HỌC MÁY, HỌC SÂU ĐƠN THUẦN VÀ MÔ HÌNH HYBRID LSTM - GRAPH NEURAL NETWORK TRONG VIỆC XÂY DỰNG HỆ THỐNG DỰ BÁO GIÁ ĐÓNG CỬA CỔ PHIẾU TRÊN KIẾN TRÚC DỮ LIỆU LỚN 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4A261139-5E74-1518-C91F-1C7FB9BBC40C}"/>
              </a:ext>
            </a:extLst>
          </p:cNvPr>
          <p:cNvSpPr/>
          <p:nvPr/>
        </p:nvSpPr>
        <p:spPr>
          <a:xfrm>
            <a:off x="1219200" y="6667500"/>
            <a:ext cx="15697200" cy="0"/>
          </a:xfrm>
          <a:prstGeom prst="line">
            <a:avLst/>
          </a:prstGeom>
          <a:ln w="28575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3ACBB2F0-F07F-D945-C497-5CDE5A96B264}"/>
              </a:ext>
            </a:extLst>
          </p:cNvPr>
          <p:cNvSpPr/>
          <p:nvPr/>
        </p:nvSpPr>
        <p:spPr>
          <a:xfrm>
            <a:off x="5130402" y="2338989"/>
            <a:ext cx="11633598" cy="0"/>
          </a:xfrm>
          <a:prstGeom prst="line">
            <a:avLst/>
          </a:prstGeom>
          <a:ln w="28575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BBA66BFD-7104-4115-1E59-D15163DB1218}"/>
              </a:ext>
            </a:extLst>
          </p:cNvPr>
          <p:cNvSpPr txBox="1"/>
          <p:nvPr/>
        </p:nvSpPr>
        <p:spPr>
          <a:xfrm>
            <a:off x="1391567" y="2146628"/>
            <a:ext cx="3788346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69"/>
              </a:lnSpc>
            </a:pPr>
            <a:r>
              <a:rPr lang="en-US" sz="3600" b="1" dirty="0">
                <a:solidFill>
                  <a:srgbClr val="0070C0"/>
                </a:solidFill>
                <a:latin typeface="UTM Aircona" panose="02040603050506020204" pitchFamily="18" charset="0"/>
                <a:ea typeface="Helvetica World Bold"/>
                <a:cs typeface="Helvetica World Bold"/>
                <a:sym typeface="Helvetica World Bold"/>
              </a:rPr>
              <a:t>ĐỒ ÁN CUỐI KỲ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B726989A-A955-43E8-C365-F2C164652626}"/>
              </a:ext>
            </a:extLst>
          </p:cNvPr>
          <p:cNvSpPr txBox="1"/>
          <p:nvPr/>
        </p:nvSpPr>
        <p:spPr>
          <a:xfrm>
            <a:off x="11320218" y="6862531"/>
            <a:ext cx="4453182" cy="476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3919"/>
              </a:lnSpc>
            </a:pPr>
            <a:r>
              <a:rPr lang="en-US" sz="3200" b="1" spc="-300" dirty="0">
                <a:solidFill>
                  <a:srgbClr val="0070C0"/>
                </a:solidFill>
                <a:latin typeface="UTM Aircona" panose="02040603050506020204" pitchFamily="18" charset="0"/>
                <a:ea typeface="HK Gothic Bold"/>
                <a:cs typeface="HK Gothic Bold"/>
                <a:sym typeface="HK Gothic Bold"/>
              </a:rPr>
              <a:t>LỚP: </a:t>
            </a:r>
            <a:r>
              <a:rPr lang="en-US" sz="2799" b="1" spc="300" dirty="0">
                <a:solidFill>
                  <a:srgbClr val="002060"/>
                </a:solidFill>
                <a:latin typeface="DC-Monument Extended Ultrabold" pitchFamily="50" charset="0"/>
                <a:ea typeface="HK Gothic Bold"/>
                <a:cs typeface="HK Gothic Bold"/>
                <a:sym typeface="HK Gothic"/>
              </a:rPr>
              <a:t>IE212</a:t>
            </a:r>
            <a:r>
              <a:rPr lang="en-US" sz="2799" spc="300" dirty="0">
                <a:solidFill>
                  <a:srgbClr val="002060"/>
                </a:solidFill>
                <a:latin typeface="DC-Monument Extended Ultrabold" pitchFamily="50" charset="0"/>
                <a:ea typeface="HK Gothic"/>
                <a:cs typeface="HK Gothic"/>
                <a:sym typeface="HK Gothic"/>
              </a:rPr>
              <a:t>.Q21</a:t>
            </a:r>
          </a:p>
        </p:txBody>
      </p:sp>
      <p:pic>
        <p:nvPicPr>
          <p:cNvPr id="25" name="Picture 24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3F48469B-8DCB-DD3D-ACCB-9BC91F47FA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sp>
        <p:nvSpPr>
          <p:cNvPr id="22" name="TextBox 18">
            <a:extLst>
              <a:ext uri="{FF2B5EF4-FFF2-40B4-BE49-F238E27FC236}">
                <a16:creationId xmlns:a16="http://schemas.microsoft.com/office/drawing/2014/main" id="{C4255633-56FE-D2E2-A257-ECA5B6C30622}"/>
              </a:ext>
            </a:extLst>
          </p:cNvPr>
          <p:cNvSpPr txBox="1"/>
          <p:nvPr/>
        </p:nvSpPr>
        <p:spPr>
          <a:xfrm>
            <a:off x="5386739" y="7399387"/>
            <a:ext cx="7698293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3200" b="1" spc="-300" dirty="0">
                <a:solidFill>
                  <a:srgbClr val="0070C0"/>
                </a:solidFill>
                <a:latin typeface="UTM Aircona" panose="02040603050506020204" pitchFamily="18" charset="0"/>
                <a:ea typeface="HK Gothic Bold"/>
                <a:cs typeface="HK Gothic Bold"/>
                <a:sym typeface="HK Gothic Bold"/>
              </a:rPr>
              <a:t>GVHD: </a:t>
            </a:r>
            <a:r>
              <a:rPr lang="en-US" sz="2799" dirty="0">
                <a:solidFill>
                  <a:srgbClr val="002060"/>
                </a:solidFill>
                <a:latin typeface="DC-Monument Extended Ultrabold" pitchFamily="50" charset="0"/>
                <a:ea typeface="HK Gothic"/>
                <a:cs typeface="HK Gothic"/>
                <a:sym typeface="HK Gothic"/>
              </a:rPr>
              <a:t>TS. HÀ MINH TÂN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A0337483-15C6-F0BE-FB07-8A1571B99952}"/>
              </a:ext>
            </a:extLst>
          </p:cNvPr>
          <p:cNvSpPr txBox="1"/>
          <p:nvPr/>
        </p:nvSpPr>
        <p:spPr>
          <a:xfrm>
            <a:off x="2362200" y="6865987"/>
            <a:ext cx="854867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3200" b="1" spc="-150" dirty="0">
                <a:solidFill>
                  <a:srgbClr val="0070C0"/>
                </a:solidFill>
                <a:latin typeface="UTM Aircona" panose="02040603050506020204" pitchFamily="18" charset="0"/>
                <a:ea typeface="HK Gothic Bold"/>
                <a:cs typeface="Baloo" panose="020B0604020202020204" charset="0"/>
                <a:sym typeface="HK Gothic Bold"/>
              </a:rPr>
              <a:t>MÔN HỌC: </a:t>
            </a:r>
            <a:r>
              <a:rPr lang="en-US" sz="2799" dirty="0">
                <a:solidFill>
                  <a:srgbClr val="002060"/>
                </a:solidFill>
                <a:latin typeface="DC-Monument Extended Ultrabold" pitchFamily="50" charset="0"/>
                <a:ea typeface="HK Gothic"/>
                <a:cs typeface="HK Gothic"/>
                <a:sym typeface="HK Gothic"/>
              </a:rPr>
              <a:t>CÔNG NGHỆ DỮ LIỆU LỚN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4FB5F5D-7222-7D14-21BF-A467E3F06942}"/>
              </a:ext>
            </a:extLst>
          </p:cNvPr>
          <p:cNvSpPr/>
          <p:nvPr/>
        </p:nvSpPr>
        <p:spPr>
          <a:xfrm rot="10800000" flipV="1">
            <a:off x="5565219" y="7962900"/>
            <a:ext cx="7157564" cy="1470090"/>
          </a:xfrm>
          <a:prstGeom prst="roundRect">
            <a:avLst/>
          </a:prstGeom>
          <a:gradFill flip="none" rotWithShape="1">
            <a:gsLst>
              <a:gs pos="47000">
                <a:srgbClr val="004AAD"/>
              </a:gs>
              <a:gs pos="100000">
                <a:srgbClr val="1B1C54"/>
              </a:gs>
              <a:gs pos="84000">
                <a:srgbClr val="002060"/>
              </a:gs>
            </a:gsLst>
            <a:lin ang="8100000" scaled="1"/>
            <a:tileRect/>
          </a:gradFill>
          <a:ln>
            <a:solidFill>
              <a:schemeClr val="accent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Bai Jamjuree Bold" panose="020B0604020202020204" charset="-34"/>
                <a:ea typeface="Baloo"/>
                <a:cs typeface="Bai Jamjuree Bold" panose="020B0604020202020204" charset="-34"/>
                <a:sym typeface="Baloo"/>
              </a:rPr>
              <a:t>1. Đặng Công An – 2352xxxx</a:t>
            </a:r>
          </a:p>
          <a:p>
            <a:pPr algn="ctr"/>
            <a:r>
              <a:rPr lang="en-US" sz="2800" dirty="0">
                <a:solidFill>
                  <a:srgbClr val="FFFFFF"/>
                </a:solidFill>
                <a:latin typeface="Bai Jamjuree Bold" panose="020B0604020202020204" charset="-34"/>
                <a:ea typeface="Baloo"/>
                <a:cs typeface="Bai Jamjuree Bold" panose="020B0604020202020204" charset="-34"/>
                <a:sym typeface="Baloo"/>
              </a:rPr>
              <a:t>2. Nguyễn Cao Cường – 23520198</a:t>
            </a:r>
          </a:p>
          <a:p>
            <a:pPr algn="ctr"/>
            <a:r>
              <a:rPr lang="en-US" sz="2800" dirty="0">
                <a:solidFill>
                  <a:srgbClr val="FFFFFF"/>
                </a:solidFill>
                <a:latin typeface="Bai Jamjuree Bold" panose="020B0604020202020204" charset="-34"/>
                <a:ea typeface="Baloo"/>
                <a:cs typeface="Bai Jamjuree Bold" panose="020B0604020202020204" charset="-34"/>
                <a:sym typeface="Baloo"/>
              </a:rPr>
              <a:t>3. Nguyễn Quốc Đạt – 23520260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7051A37-E4B1-1F23-FE16-854092523D97}"/>
              </a:ext>
            </a:extLst>
          </p:cNvPr>
          <p:cNvGrpSpPr/>
          <p:nvPr/>
        </p:nvGrpSpPr>
        <p:grpSpPr>
          <a:xfrm>
            <a:off x="6723058" y="567405"/>
            <a:ext cx="4596511" cy="1375695"/>
            <a:chOff x="7121515" y="567405"/>
            <a:chExt cx="4596511" cy="1375695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0D303CC-A79F-419E-8ED5-E1D6552B4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07" b="2684"/>
            <a:stretch>
              <a:fillRect/>
            </a:stretch>
          </p:blipFill>
          <p:spPr>
            <a:xfrm>
              <a:off x="9648278" y="567405"/>
              <a:ext cx="2069748" cy="137569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1A6F096-1F7C-D848-B17F-C2A1A7CB8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86" t="8244" r="4939" b="9636"/>
            <a:stretch>
              <a:fillRect/>
            </a:stretch>
          </p:blipFill>
          <p:spPr>
            <a:xfrm>
              <a:off x="7121515" y="567405"/>
              <a:ext cx="2069748" cy="13756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5013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0277B-2B35-B4B9-E656-B8B028BFB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">
            <a:extLst>
              <a:ext uri="{FF2B5EF4-FFF2-40B4-BE49-F238E27FC236}">
                <a16:creationId xmlns:a16="http://schemas.microsoft.com/office/drawing/2014/main" id="{C64C60A3-7B43-2901-6101-2524D0A09E2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735" b="-49735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2" name="Picture 4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F567F519-73C9-AD39-7B92-068CBFD477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sp>
        <p:nvSpPr>
          <p:cNvPr id="6" name="Freeform 6">
            <a:extLst>
              <a:ext uri="{FF2B5EF4-FFF2-40B4-BE49-F238E27FC236}">
                <a16:creationId xmlns:a16="http://schemas.microsoft.com/office/drawing/2014/main" id="{D94DCEC3-5954-EEC7-D56B-B642A8FA56E0}"/>
              </a:ext>
            </a:extLst>
          </p:cNvPr>
          <p:cNvSpPr/>
          <p:nvPr/>
        </p:nvSpPr>
        <p:spPr>
          <a:xfrm>
            <a:off x="-1587332" y="8680799"/>
            <a:ext cx="4335636" cy="3902073"/>
          </a:xfrm>
          <a:custGeom>
            <a:avLst/>
            <a:gdLst/>
            <a:ahLst/>
            <a:cxnLst/>
            <a:rect l="l" t="t" r="r" b="b"/>
            <a:pathLst>
              <a:path w="4335636" h="3902073">
                <a:moveTo>
                  <a:pt x="0" y="0"/>
                </a:moveTo>
                <a:lnTo>
                  <a:pt x="4335636" y="0"/>
                </a:lnTo>
                <a:lnTo>
                  <a:pt x="4335636" y="3902072"/>
                </a:lnTo>
                <a:lnTo>
                  <a:pt x="0" y="3902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4FE3E6D-0CA6-0BD6-1B40-1A7B350AA293}"/>
              </a:ext>
            </a:extLst>
          </p:cNvPr>
          <p:cNvSpPr/>
          <p:nvPr/>
        </p:nvSpPr>
        <p:spPr>
          <a:xfrm rot="-10800000">
            <a:off x="12069627" y="8882819"/>
            <a:ext cx="6206323" cy="1404181"/>
          </a:xfrm>
          <a:custGeom>
            <a:avLst/>
            <a:gdLst/>
            <a:ahLst/>
            <a:cxnLst/>
            <a:rect l="l" t="t" r="r" b="b"/>
            <a:pathLst>
              <a:path w="6206323" h="1404181">
                <a:moveTo>
                  <a:pt x="0" y="0"/>
                </a:moveTo>
                <a:lnTo>
                  <a:pt x="6206323" y="0"/>
                </a:lnTo>
                <a:lnTo>
                  <a:pt x="6206323" y="1404181"/>
                </a:lnTo>
                <a:lnTo>
                  <a:pt x="0" y="1404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CE903CB-CF2D-B2D1-5C90-CBF5CAC1E594}"/>
              </a:ext>
            </a:extLst>
          </p:cNvPr>
          <p:cNvSpPr/>
          <p:nvPr/>
        </p:nvSpPr>
        <p:spPr>
          <a:xfrm rot="5400000">
            <a:off x="10374777" y="-1821931"/>
            <a:ext cx="3841260" cy="3029794"/>
          </a:xfrm>
          <a:custGeom>
            <a:avLst/>
            <a:gdLst/>
            <a:ahLst/>
            <a:cxnLst/>
            <a:rect l="l" t="t" r="r" b="b"/>
            <a:pathLst>
              <a:path w="3841260" h="3029794">
                <a:moveTo>
                  <a:pt x="0" y="0"/>
                </a:moveTo>
                <a:lnTo>
                  <a:pt x="3841260" y="0"/>
                </a:lnTo>
                <a:lnTo>
                  <a:pt x="3841260" y="3029794"/>
                </a:lnTo>
                <a:lnTo>
                  <a:pt x="0" y="30297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BB28BCA8-E742-1534-A1A9-0C96CB0554B2}"/>
              </a:ext>
            </a:extLst>
          </p:cNvPr>
          <p:cNvSpPr/>
          <p:nvPr/>
        </p:nvSpPr>
        <p:spPr>
          <a:xfrm flipH="1">
            <a:off x="-1587332" y="-724207"/>
            <a:ext cx="6771660" cy="2090750"/>
          </a:xfrm>
          <a:custGeom>
            <a:avLst/>
            <a:gdLst/>
            <a:ahLst/>
            <a:cxnLst/>
            <a:rect l="l" t="t" r="r" b="b"/>
            <a:pathLst>
              <a:path w="6771660" h="2090750">
                <a:moveTo>
                  <a:pt x="6771660" y="0"/>
                </a:moveTo>
                <a:lnTo>
                  <a:pt x="0" y="0"/>
                </a:lnTo>
                <a:lnTo>
                  <a:pt x="0" y="2090750"/>
                </a:lnTo>
                <a:lnTo>
                  <a:pt x="6771660" y="2090750"/>
                </a:lnTo>
                <a:lnTo>
                  <a:pt x="67716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8A63F20-396D-62B0-8FA5-3D0BF23AA78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pic>
        <p:nvPicPr>
          <p:cNvPr id="36" name="Picture 35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ECCFC8B8-6DAA-E83C-74C7-92B0EA77A1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888234"/>
            <a:ext cx="8718326" cy="7040047"/>
          </a:xfrm>
          <a:prstGeom prst="rect">
            <a:avLst/>
          </a:prstGeom>
        </p:spPr>
      </p:pic>
      <p:sp>
        <p:nvSpPr>
          <p:cNvPr id="38" name="TextBox 9">
            <a:extLst>
              <a:ext uri="{FF2B5EF4-FFF2-40B4-BE49-F238E27FC236}">
                <a16:creationId xmlns:a16="http://schemas.microsoft.com/office/drawing/2014/main" id="{EE64E44E-B220-3AF8-5A0D-A2E2E4666292}"/>
              </a:ext>
            </a:extLst>
          </p:cNvPr>
          <p:cNvSpPr txBox="1"/>
          <p:nvPr/>
        </p:nvSpPr>
        <p:spPr>
          <a:xfrm>
            <a:off x="3731966" y="363133"/>
            <a:ext cx="10760605" cy="1331134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lvl="1" algn="ctr">
              <a:lnSpc>
                <a:spcPts val="11200"/>
              </a:lnSpc>
            </a:pPr>
            <a:r>
              <a:rPr lang="en-US" sz="6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NỘI DUNG CHÍNH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34C9F20-B26F-9A3C-C4B3-3E59A13E07BF}"/>
              </a:ext>
            </a:extLst>
          </p:cNvPr>
          <p:cNvGrpSpPr/>
          <p:nvPr/>
        </p:nvGrpSpPr>
        <p:grpSpPr>
          <a:xfrm>
            <a:off x="5184328" y="2178320"/>
            <a:ext cx="8446625" cy="1164163"/>
            <a:chOff x="4211208" y="2482845"/>
            <a:chExt cx="8854447" cy="1295402"/>
          </a:xfrm>
        </p:grpSpPr>
        <p:sp>
          <p:nvSpPr>
            <p:cNvPr id="45" name="Rectangle: Top Corners Rounded 44">
              <a:extLst>
                <a:ext uri="{FF2B5EF4-FFF2-40B4-BE49-F238E27FC236}">
                  <a16:creationId xmlns:a16="http://schemas.microsoft.com/office/drawing/2014/main" id="{3AF2BAEB-EA43-1D14-BBA7-71F7281271FA}"/>
                </a:ext>
              </a:extLst>
            </p:cNvPr>
            <p:cNvSpPr/>
            <p:nvPr/>
          </p:nvSpPr>
          <p:spPr>
            <a:xfrm flipV="1">
              <a:off x="4658707" y="2544086"/>
              <a:ext cx="8406948" cy="1144410"/>
            </a:xfrm>
            <a:prstGeom prst="round2SameRect">
              <a:avLst>
                <a:gd name="adj1" fmla="val 50000"/>
                <a:gd name="adj2" fmla="val 50000"/>
              </a:avLst>
            </a:prstGeom>
            <a:gradFill>
              <a:gsLst>
                <a:gs pos="32000">
                  <a:srgbClr val="004AAD"/>
                </a:gs>
                <a:gs pos="68000">
                  <a:srgbClr val="002060"/>
                </a:gs>
                <a:gs pos="83000">
                  <a:srgbClr val="1B1C54"/>
                </a:gs>
              </a:gsLst>
              <a:lin ang="16800000" scaled="0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D576878-C43D-40EA-8ADC-77533529DFA5}"/>
                </a:ext>
              </a:extLst>
            </p:cNvPr>
            <p:cNvSpPr/>
            <p:nvPr/>
          </p:nvSpPr>
          <p:spPr>
            <a:xfrm>
              <a:off x="4211208" y="2482845"/>
              <a:ext cx="1295401" cy="1295402"/>
            </a:xfrm>
            <a:prstGeom prst="ellipse">
              <a:avLst/>
            </a:prstGeom>
            <a:gradFill>
              <a:gsLst>
                <a:gs pos="40000">
                  <a:schemeClr val="bg1">
                    <a:lumMod val="95000"/>
                  </a:schemeClr>
                </a:gs>
                <a:gs pos="63000">
                  <a:schemeClr val="bg1">
                    <a:lumMod val="85000"/>
                  </a:schemeClr>
                </a:gs>
                <a:gs pos="82000">
                  <a:schemeClr val="bg1">
                    <a:lumMod val="75000"/>
                  </a:schemeClr>
                </a:gs>
              </a:gsLst>
              <a:lin ang="4200000" scaled="0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1E1F557-FC81-1443-C7CC-4B660FF848BE}"/>
                </a:ext>
              </a:extLst>
            </p:cNvPr>
            <p:cNvSpPr txBox="1"/>
            <p:nvPr/>
          </p:nvSpPr>
          <p:spPr>
            <a:xfrm>
              <a:off x="4369414" y="2675974"/>
              <a:ext cx="949567" cy="83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rgbClr val="002060"/>
                  </a:solidFill>
                  <a:latin typeface="DC-Monument Extended Ultrabold" pitchFamily="50" charset="0"/>
                </a:rPr>
                <a:t>I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A150A3A-B500-A843-3D7E-0FFA0DD85D79}"/>
                </a:ext>
              </a:extLst>
            </p:cNvPr>
            <p:cNvSpPr txBox="1"/>
            <p:nvPr/>
          </p:nvSpPr>
          <p:spPr>
            <a:xfrm>
              <a:off x="5591398" y="2737216"/>
              <a:ext cx="7474257" cy="787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i Jamjuree Bold" panose="020B0604020202020204" charset="-34"/>
                  <a:ea typeface="Source Sans Pro" panose="020B0503030403020204" pitchFamily="34" charset="0"/>
                  <a:cs typeface="Bai Jamjuree Bold" panose="020B0604020202020204" charset="-34"/>
                </a:rPr>
                <a:t>TỔNG QUAN ĐỀ TÀI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E32371D-BA63-8B0F-2217-8E39DB43470A}"/>
              </a:ext>
            </a:extLst>
          </p:cNvPr>
          <p:cNvGrpSpPr/>
          <p:nvPr/>
        </p:nvGrpSpPr>
        <p:grpSpPr>
          <a:xfrm>
            <a:off x="5184328" y="3711365"/>
            <a:ext cx="8446625" cy="1164163"/>
            <a:chOff x="4211208" y="2482845"/>
            <a:chExt cx="8854447" cy="1295402"/>
          </a:xfrm>
        </p:grpSpPr>
        <p:sp>
          <p:nvSpPr>
            <p:cNvPr id="67" name="Rectangle: Top Corners Rounded 66">
              <a:extLst>
                <a:ext uri="{FF2B5EF4-FFF2-40B4-BE49-F238E27FC236}">
                  <a16:creationId xmlns:a16="http://schemas.microsoft.com/office/drawing/2014/main" id="{86343991-8C82-2697-D361-47A1E8FAEFF8}"/>
                </a:ext>
              </a:extLst>
            </p:cNvPr>
            <p:cNvSpPr/>
            <p:nvPr/>
          </p:nvSpPr>
          <p:spPr>
            <a:xfrm flipV="1">
              <a:off x="4658707" y="2544086"/>
              <a:ext cx="8406948" cy="1144410"/>
            </a:xfrm>
            <a:prstGeom prst="round2SameRect">
              <a:avLst>
                <a:gd name="adj1" fmla="val 50000"/>
                <a:gd name="adj2" fmla="val 50000"/>
              </a:avLst>
            </a:prstGeom>
            <a:gradFill>
              <a:gsLst>
                <a:gs pos="32000">
                  <a:srgbClr val="004AAD"/>
                </a:gs>
                <a:gs pos="68000">
                  <a:srgbClr val="002060"/>
                </a:gs>
                <a:gs pos="83000">
                  <a:srgbClr val="1B1C54"/>
                </a:gs>
              </a:gsLst>
              <a:lin ang="16800000" scaled="0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77EBABE-FBDD-B4C9-54D4-4727543FD77C}"/>
                </a:ext>
              </a:extLst>
            </p:cNvPr>
            <p:cNvSpPr/>
            <p:nvPr/>
          </p:nvSpPr>
          <p:spPr>
            <a:xfrm>
              <a:off x="4211208" y="2482845"/>
              <a:ext cx="1295401" cy="1295402"/>
            </a:xfrm>
            <a:prstGeom prst="ellipse">
              <a:avLst/>
            </a:prstGeom>
            <a:gradFill>
              <a:gsLst>
                <a:gs pos="40000">
                  <a:schemeClr val="bg1">
                    <a:lumMod val="95000"/>
                  </a:schemeClr>
                </a:gs>
                <a:gs pos="63000">
                  <a:schemeClr val="bg1">
                    <a:lumMod val="85000"/>
                  </a:schemeClr>
                </a:gs>
                <a:gs pos="82000">
                  <a:schemeClr val="bg1">
                    <a:lumMod val="75000"/>
                  </a:schemeClr>
                </a:gs>
              </a:gsLst>
              <a:lin ang="4200000" scaled="0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1CD85B7-9BF1-856A-DE8F-BBF7735B0249}"/>
                </a:ext>
              </a:extLst>
            </p:cNvPr>
            <p:cNvSpPr txBox="1"/>
            <p:nvPr/>
          </p:nvSpPr>
          <p:spPr>
            <a:xfrm>
              <a:off x="4369414" y="2675974"/>
              <a:ext cx="949567" cy="924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rgbClr val="002060"/>
                  </a:solidFill>
                  <a:latin typeface="DC-Monument Extended Ultrabold" pitchFamily="50" charset="0"/>
                </a:rPr>
                <a:t>II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ECF8ED1-83B0-2A51-6C4C-F2C33D4CE13E}"/>
                </a:ext>
              </a:extLst>
            </p:cNvPr>
            <p:cNvSpPr txBox="1"/>
            <p:nvPr/>
          </p:nvSpPr>
          <p:spPr>
            <a:xfrm>
              <a:off x="5591398" y="2737216"/>
              <a:ext cx="7154741" cy="787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i Jamjuree Bold" panose="020B0604020202020204" charset="-34"/>
                  <a:ea typeface="Source Sans Pro" panose="020B0503030403020204" pitchFamily="34" charset="0"/>
                  <a:cs typeface="Bai Jamjuree Bold" panose="020B0604020202020204" charset="-34"/>
                </a:rPr>
                <a:t>CƠ SỞ LÝ THUYẾT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DDA1344-BB38-934D-95C3-49C0B3BC2546}"/>
              </a:ext>
            </a:extLst>
          </p:cNvPr>
          <p:cNvGrpSpPr/>
          <p:nvPr/>
        </p:nvGrpSpPr>
        <p:grpSpPr>
          <a:xfrm>
            <a:off x="5184328" y="5165332"/>
            <a:ext cx="8446625" cy="1164163"/>
            <a:chOff x="4211208" y="2482845"/>
            <a:chExt cx="8854447" cy="1295402"/>
          </a:xfrm>
        </p:grpSpPr>
        <p:sp>
          <p:nvSpPr>
            <p:cNvPr id="72" name="Rectangle: Top Corners Rounded 71">
              <a:extLst>
                <a:ext uri="{FF2B5EF4-FFF2-40B4-BE49-F238E27FC236}">
                  <a16:creationId xmlns:a16="http://schemas.microsoft.com/office/drawing/2014/main" id="{4ABA1568-D2C7-29E2-E497-957EB78E5F92}"/>
                </a:ext>
              </a:extLst>
            </p:cNvPr>
            <p:cNvSpPr/>
            <p:nvPr/>
          </p:nvSpPr>
          <p:spPr>
            <a:xfrm flipV="1">
              <a:off x="4658707" y="2544086"/>
              <a:ext cx="8406948" cy="1144410"/>
            </a:xfrm>
            <a:prstGeom prst="round2SameRect">
              <a:avLst>
                <a:gd name="adj1" fmla="val 50000"/>
                <a:gd name="adj2" fmla="val 50000"/>
              </a:avLst>
            </a:prstGeom>
            <a:gradFill>
              <a:gsLst>
                <a:gs pos="32000">
                  <a:srgbClr val="004AAD"/>
                </a:gs>
                <a:gs pos="68000">
                  <a:srgbClr val="002060"/>
                </a:gs>
                <a:gs pos="83000">
                  <a:srgbClr val="1B1C54"/>
                </a:gs>
              </a:gsLst>
              <a:lin ang="16800000" scaled="0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DB4F049-4903-2585-CE53-18714BAB2878}"/>
                </a:ext>
              </a:extLst>
            </p:cNvPr>
            <p:cNvSpPr/>
            <p:nvPr/>
          </p:nvSpPr>
          <p:spPr>
            <a:xfrm>
              <a:off x="4211208" y="2482845"/>
              <a:ext cx="1295401" cy="1295402"/>
            </a:xfrm>
            <a:prstGeom prst="ellipse">
              <a:avLst/>
            </a:prstGeom>
            <a:gradFill>
              <a:gsLst>
                <a:gs pos="40000">
                  <a:schemeClr val="bg1">
                    <a:lumMod val="95000"/>
                  </a:schemeClr>
                </a:gs>
                <a:gs pos="63000">
                  <a:schemeClr val="bg1">
                    <a:lumMod val="85000"/>
                  </a:schemeClr>
                </a:gs>
                <a:gs pos="82000">
                  <a:schemeClr val="bg1">
                    <a:lumMod val="75000"/>
                  </a:schemeClr>
                </a:gs>
              </a:gsLst>
              <a:lin ang="4200000" scaled="0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3F98C11-9678-87DB-E40C-226D885D4F13}"/>
                </a:ext>
              </a:extLst>
            </p:cNvPr>
            <p:cNvSpPr txBox="1"/>
            <p:nvPr/>
          </p:nvSpPr>
          <p:spPr>
            <a:xfrm>
              <a:off x="4369414" y="2675974"/>
              <a:ext cx="949567" cy="924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rgbClr val="002060"/>
                  </a:solidFill>
                  <a:latin typeface="DC-Monument Extended Ultrabold" pitchFamily="50" charset="0"/>
                </a:rPr>
                <a:t>III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535FF4E-B3CA-9DC2-D40D-4DB129A73A06}"/>
                </a:ext>
              </a:extLst>
            </p:cNvPr>
            <p:cNvSpPr txBox="1"/>
            <p:nvPr/>
          </p:nvSpPr>
          <p:spPr>
            <a:xfrm>
              <a:off x="5591397" y="2737216"/>
              <a:ext cx="7474258" cy="787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i Jamjuree Bold" panose="020B0604020202020204" charset="-34"/>
                  <a:ea typeface="Source Sans Pro" panose="020B0503030403020204" pitchFamily="34" charset="0"/>
                  <a:cs typeface="Bai Jamjuree Bold" panose="020B0604020202020204" charset="-34"/>
                </a:rPr>
                <a:t>PHƯƠNG PHÁP THỰC HIỆN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2E9B069-7FBE-5434-5D38-5B43A83D53B2}"/>
              </a:ext>
            </a:extLst>
          </p:cNvPr>
          <p:cNvGrpSpPr/>
          <p:nvPr/>
        </p:nvGrpSpPr>
        <p:grpSpPr>
          <a:xfrm>
            <a:off x="5184328" y="6698377"/>
            <a:ext cx="8446625" cy="1164163"/>
            <a:chOff x="4211208" y="2482845"/>
            <a:chExt cx="8854447" cy="1295402"/>
          </a:xfrm>
        </p:grpSpPr>
        <p:sp>
          <p:nvSpPr>
            <p:cNvPr id="77" name="Rectangle: Top Corners Rounded 76">
              <a:extLst>
                <a:ext uri="{FF2B5EF4-FFF2-40B4-BE49-F238E27FC236}">
                  <a16:creationId xmlns:a16="http://schemas.microsoft.com/office/drawing/2014/main" id="{61B303AE-7924-AD40-E14F-3E39DE32D685}"/>
                </a:ext>
              </a:extLst>
            </p:cNvPr>
            <p:cNvSpPr/>
            <p:nvPr/>
          </p:nvSpPr>
          <p:spPr>
            <a:xfrm flipV="1">
              <a:off x="4658707" y="2544086"/>
              <a:ext cx="8406948" cy="1144410"/>
            </a:xfrm>
            <a:prstGeom prst="round2SameRect">
              <a:avLst>
                <a:gd name="adj1" fmla="val 50000"/>
                <a:gd name="adj2" fmla="val 50000"/>
              </a:avLst>
            </a:prstGeom>
            <a:gradFill>
              <a:gsLst>
                <a:gs pos="32000">
                  <a:srgbClr val="004AAD"/>
                </a:gs>
                <a:gs pos="68000">
                  <a:srgbClr val="002060"/>
                </a:gs>
                <a:gs pos="83000">
                  <a:srgbClr val="1B1C54"/>
                </a:gs>
              </a:gsLst>
              <a:lin ang="16800000" scaled="0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0722E94B-D8C3-9398-BF9F-8D780DEBCCAC}"/>
                </a:ext>
              </a:extLst>
            </p:cNvPr>
            <p:cNvSpPr/>
            <p:nvPr/>
          </p:nvSpPr>
          <p:spPr>
            <a:xfrm>
              <a:off x="4211208" y="2482845"/>
              <a:ext cx="1295401" cy="1295402"/>
            </a:xfrm>
            <a:prstGeom prst="ellipse">
              <a:avLst/>
            </a:prstGeom>
            <a:gradFill>
              <a:gsLst>
                <a:gs pos="40000">
                  <a:schemeClr val="bg1">
                    <a:lumMod val="95000"/>
                  </a:schemeClr>
                </a:gs>
                <a:gs pos="63000">
                  <a:schemeClr val="bg1">
                    <a:lumMod val="85000"/>
                  </a:schemeClr>
                </a:gs>
                <a:gs pos="82000">
                  <a:schemeClr val="bg1">
                    <a:lumMod val="75000"/>
                  </a:schemeClr>
                </a:gs>
              </a:gsLst>
              <a:lin ang="4200000" scaled="0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2DBC423-C632-E7BE-3330-77C1A3625266}"/>
                </a:ext>
              </a:extLst>
            </p:cNvPr>
            <p:cNvSpPr txBox="1"/>
            <p:nvPr/>
          </p:nvSpPr>
          <p:spPr>
            <a:xfrm>
              <a:off x="4339943" y="2675974"/>
              <a:ext cx="1137196" cy="924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rgbClr val="002060"/>
                  </a:solidFill>
                  <a:latin typeface="DC-Monument Extended Ultrabold" pitchFamily="50" charset="0"/>
                </a:rPr>
                <a:t>IV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4E621AB-220B-1EB4-9E63-E422BAF0ABC7}"/>
                </a:ext>
              </a:extLst>
            </p:cNvPr>
            <p:cNvSpPr txBox="1"/>
            <p:nvPr/>
          </p:nvSpPr>
          <p:spPr>
            <a:xfrm>
              <a:off x="5591398" y="2737216"/>
              <a:ext cx="6755345" cy="787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i Jamjuree Bold" panose="020B0604020202020204" charset="-34"/>
                  <a:ea typeface="Source Sans Pro" panose="020B0503030403020204" pitchFamily="34" charset="0"/>
                  <a:cs typeface="Bai Jamjuree Bold" panose="020B0604020202020204" charset="-34"/>
                </a:rPr>
                <a:t>KẾT QUẢ ĐÁNH GIÁ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06A88AB-9003-38B5-9CF6-AAD6FAA170CE}"/>
              </a:ext>
            </a:extLst>
          </p:cNvPr>
          <p:cNvGrpSpPr/>
          <p:nvPr/>
        </p:nvGrpSpPr>
        <p:grpSpPr>
          <a:xfrm>
            <a:off x="5184328" y="8229633"/>
            <a:ext cx="8446625" cy="1164163"/>
            <a:chOff x="4211208" y="2482845"/>
            <a:chExt cx="8854447" cy="1295402"/>
          </a:xfrm>
        </p:grpSpPr>
        <p:sp>
          <p:nvSpPr>
            <p:cNvPr id="82" name="Rectangle: Top Corners Rounded 81">
              <a:extLst>
                <a:ext uri="{FF2B5EF4-FFF2-40B4-BE49-F238E27FC236}">
                  <a16:creationId xmlns:a16="http://schemas.microsoft.com/office/drawing/2014/main" id="{0414E9F1-26CE-5F9B-8692-DBECFB51BBDC}"/>
                </a:ext>
              </a:extLst>
            </p:cNvPr>
            <p:cNvSpPr/>
            <p:nvPr/>
          </p:nvSpPr>
          <p:spPr>
            <a:xfrm flipV="1">
              <a:off x="4658707" y="2544086"/>
              <a:ext cx="8406948" cy="1144410"/>
            </a:xfrm>
            <a:prstGeom prst="round2SameRect">
              <a:avLst>
                <a:gd name="adj1" fmla="val 50000"/>
                <a:gd name="adj2" fmla="val 50000"/>
              </a:avLst>
            </a:prstGeom>
            <a:gradFill>
              <a:gsLst>
                <a:gs pos="32000">
                  <a:srgbClr val="004AAD"/>
                </a:gs>
                <a:gs pos="68000">
                  <a:srgbClr val="002060"/>
                </a:gs>
                <a:gs pos="83000">
                  <a:srgbClr val="1B1C54"/>
                </a:gs>
              </a:gsLst>
              <a:lin ang="16800000" scaled="0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8CB1B4A-8B2B-3F98-7E4C-E6BA82020E1A}"/>
                </a:ext>
              </a:extLst>
            </p:cNvPr>
            <p:cNvSpPr/>
            <p:nvPr/>
          </p:nvSpPr>
          <p:spPr>
            <a:xfrm>
              <a:off x="4211208" y="2482845"/>
              <a:ext cx="1295401" cy="1295402"/>
            </a:xfrm>
            <a:prstGeom prst="ellipse">
              <a:avLst/>
            </a:prstGeom>
            <a:gradFill>
              <a:gsLst>
                <a:gs pos="40000">
                  <a:schemeClr val="bg1">
                    <a:lumMod val="95000"/>
                  </a:schemeClr>
                </a:gs>
                <a:gs pos="63000">
                  <a:schemeClr val="bg1">
                    <a:lumMod val="85000"/>
                  </a:schemeClr>
                </a:gs>
                <a:gs pos="82000">
                  <a:schemeClr val="bg1">
                    <a:lumMod val="75000"/>
                  </a:schemeClr>
                </a:gs>
              </a:gsLst>
              <a:lin ang="4200000" scaled="0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0D59CFF-64CB-E425-DAC6-A346F4012B40}"/>
                </a:ext>
              </a:extLst>
            </p:cNvPr>
            <p:cNvSpPr txBox="1"/>
            <p:nvPr/>
          </p:nvSpPr>
          <p:spPr>
            <a:xfrm>
              <a:off x="4369414" y="2675974"/>
              <a:ext cx="949567" cy="924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rgbClr val="002060"/>
                  </a:solidFill>
                  <a:latin typeface="DC-Monument Extended Ultrabold" pitchFamily="50" charset="0"/>
                </a:rPr>
                <a:t>V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F6B33DD-B634-2C17-8100-9E8FFFDA0581}"/>
                </a:ext>
              </a:extLst>
            </p:cNvPr>
            <p:cNvSpPr txBox="1"/>
            <p:nvPr/>
          </p:nvSpPr>
          <p:spPr>
            <a:xfrm>
              <a:off x="5591398" y="2737216"/>
              <a:ext cx="6994982" cy="787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i Jamjuree Bold" panose="020B0604020202020204" charset="-34"/>
                  <a:ea typeface="Source Sans Pro" panose="020B0503030403020204" pitchFamily="34" charset="0"/>
                  <a:cs typeface="Bai Jamjuree Bold" panose="020B0604020202020204" charset="-34"/>
                </a:rPr>
                <a:t>KẾT LUẬN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5782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12063-1C54-7AD7-1A5B-9F89D5276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">
            <a:extLst>
              <a:ext uri="{FF2B5EF4-FFF2-40B4-BE49-F238E27FC236}">
                <a16:creationId xmlns:a16="http://schemas.microsoft.com/office/drawing/2014/main" id="{41E1C607-51CB-D213-EF3D-5DB4000C352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735" b="-497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06A65EC-9C60-7CE8-35E6-6D6727E4E4E7}"/>
              </a:ext>
            </a:extLst>
          </p:cNvPr>
          <p:cNvSpPr/>
          <p:nvPr/>
        </p:nvSpPr>
        <p:spPr>
          <a:xfrm>
            <a:off x="-1587332" y="8680799"/>
            <a:ext cx="4335636" cy="3902073"/>
          </a:xfrm>
          <a:custGeom>
            <a:avLst/>
            <a:gdLst/>
            <a:ahLst/>
            <a:cxnLst/>
            <a:rect l="l" t="t" r="r" b="b"/>
            <a:pathLst>
              <a:path w="4335636" h="3902073">
                <a:moveTo>
                  <a:pt x="0" y="0"/>
                </a:moveTo>
                <a:lnTo>
                  <a:pt x="4335636" y="0"/>
                </a:lnTo>
                <a:lnTo>
                  <a:pt x="4335636" y="3902072"/>
                </a:lnTo>
                <a:lnTo>
                  <a:pt x="0" y="3902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E9B5E3F-16CA-3721-15A7-3E6FC8153588}"/>
              </a:ext>
            </a:extLst>
          </p:cNvPr>
          <p:cNvSpPr/>
          <p:nvPr/>
        </p:nvSpPr>
        <p:spPr>
          <a:xfrm rot="5400000">
            <a:off x="10374777" y="-1821931"/>
            <a:ext cx="3841260" cy="3029794"/>
          </a:xfrm>
          <a:custGeom>
            <a:avLst/>
            <a:gdLst/>
            <a:ahLst/>
            <a:cxnLst/>
            <a:rect l="l" t="t" r="r" b="b"/>
            <a:pathLst>
              <a:path w="3841260" h="3029794">
                <a:moveTo>
                  <a:pt x="0" y="0"/>
                </a:moveTo>
                <a:lnTo>
                  <a:pt x="3841260" y="0"/>
                </a:lnTo>
                <a:lnTo>
                  <a:pt x="3841260" y="3029794"/>
                </a:lnTo>
                <a:lnTo>
                  <a:pt x="0" y="3029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2" name="Picture 4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40B83368-7B52-556A-5A71-64A9E678B3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8A0AA50-B24E-A258-A8CA-73AB7DFCC44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36" name="TextBox 9">
            <a:extLst>
              <a:ext uri="{FF2B5EF4-FFF2-40B4-BE49-F238E27FC236}">
                <a16:creationId xmlns:a16="http://schemas.microsoft.com/office/drawing/2014/main" id="{6B199958-28D4-145C-7EE1-71D8C3288DB9}"/>
              </a:ext>
            </a:extLst>
          </p:cNvPr>
          <p:cNvSpPr txBox="1"/>
          <p:nvPr/>
        </p:nvSpPr>
        <p:spPr>
          <a:xfrm>
            <a:off x="2819400" y="5248134"/>
            <a:ext cx="3200399" cy="218136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1" algn="ctr">
              <a:lnSpc>
                <a:spcPts val="11200"/>
              </a:lnSpc>
            </a:pPr>
            <a:r>
              <a:rPr lang="en-US" sz="28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I.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D85672CA-423F-2B73-CC9F-45014E5039A6}"/>
              </a:ext>
            </a:extLst>
          </p:cNvPr>
          <p:cNvSpPr txBox="1"/>
          <p:nvPr/>
        </p:nvSpPr>
        <p:spPr>
          <a:xfrm>
            <a:off x="5867400" y="3728978"/>
            <a:ext cx="10134600" cy="286232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1">
              <a:spcAft>
                <a:spcPts val="1200"/>
              </a:spcAft>
            </a:pPr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TỔNG QUAN</a:t>
            </a:r>
          </a:p>
          <a:p>
            <a:pPr lvl="1">
              <a:spcAft>
                <a:spcPts val="1200"/>
              </a:spcAft>
            </a:pPr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ĐỀ TÀI</a:t>
            </a: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959E404F-17EA-2BC8-4C48-6D104ED0153A}"/>
              </a:ext>
            </a:extLst>
          </p:cNvPr>
          <p:cNvSpPr/>
          <p:nvPr/>
        </p:nvSpPr>
        <p:spPr>
          <a:xfrm>
            <a:off x="0" y="-434848"/>
            <a:ext cx="4773662" cy="1783466"/>
          </a:xfrm>
          <a:custGeom>
            <a:avLst/>
            <a:gdLst/>
            <a:ahLst/>
            <a:cxnLst/>
            <a:rect l="l" t="t" r="r" b="b"/>
            <a:pathLst>
              <a:path w="4773662" h="1783466">
                <a:moveTo>
                  <a:pt x="0" y="0"/>
                </a:moveTo>
                <a:lnTo>
                  <a:pt x="4773662" y="0"/>
                </a:lnTo>
                <a:lnTo>
                  <a:pt x="4773662" y="1783466"/>
                </a:lnTo>
                <a:lnTo>
                  <a:pt x="0" y="1783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84033" b="-8362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D1FF3239-57E7-99B2-AC63-57ABC10B51BB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741C65E-EB00-486C-ED99-ECF96A5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3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95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9739814">
            <a:off x="-1445012" y="1665074"/>
            <a:ext cx="2890024" cy="2967932"/>
          </a:xfrm>
          <a:custGeom>
            <a:avLst/>
            <a:gdLst/>
            <a:ahLst/>
            <a:cxnLst/>
            <a:rect l="l" t="t" r="r" b="b"/>
            <a:pathLst>
              <a:path w="2890024" h="2967932">
                <a:moveTo>
                  <a:pt x="0" y="0"/>
                </a:moveTo>
                <a:lnTo>
                  <a:pt x="2890024" y="0"/>
                </a:lnTo>
                <a:lnTo>
                  <a:pt x="2890024" y="2967931"/>
                </a:lnTo>
                <a:lnTo>
                  <a:pt x="0" y="2967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396348" y="8680301"/>
            <a:ext cx="4214440" cy="3455841"/>
          </a:xfrm>
          <a:custGeom>
            <a:avLst/>
            <a:gdLst/>
            <a:ahLst/>
            <a:cxnLst/>
            <a:rect l="l" t="t" r="r" b="b"/>
            <a:pathLst>
              <a:path w="4214440" h="3455841">
                <a:moveTo>
                  <a:pt x="0" y="0"/>
                </a:moveTo>
                <a:lnTo>
                  <a:pt x="4214440" y="0"/>
                </a:lnTo>
                <a:lnTo>
                  <a:pt x="4214440" y="3455841"/>
                </a:lnTo>
                <a:lnTo>
                  <a:pt x="0" y="345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50368" y="2360211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7"/>
                </a:lnTo>
                <a:lnTo>
                  <a:pt x="0" y="900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765513" y="33018"/>
            <a:ext cx="9121687" cy="9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9"/>
              </a:lnSpc>
              <a:spcBef>
                <a:spcPct val="0"/>
              </a:spcBef>
            </a:pPr>
            <a:r>
              <a:rPr lang="en-US" sz="40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TỔNG QUAN ĐỀ TÀI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906192" y="-605688"/>
            <a:ext cx="5156756" cy="2012695"/>
          </a:xfrm>
          <a:custGeom>
            <a:avLst/>
            <a:gdLst/>
            <a:ahLst/>
            <a:cxnLst/>
            <a:rect l="l" t="t" r="r" b="b"/>
            <a:pathLst>
              <a:path w="5156756" h="2462351">
                <a:moveTo>
                  <a:pt x="5156756" y="0"/>
                </a:moveTo>
                <a:lnTo>
                  <a:pt x="0" y="0"/>
                </a:lnTo>
                <a:lnTo>
                  <a:pt x="0" y="2462351"/>
                </a:lnTo>
                <a:lnTo>
                  <a:pt x="5156756" y="2462351"/>
                </a:lnTo>
                <a:lnTo>
                  <a:pt x="515675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2234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93467" y="84855"/>
            <a:ext cx="103481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67"/>
              </a:lnSpc>
              <a:spcBef>
                <a:spcPct val="0"/>
              </a:spcBef>
            </a:pPr>
            <a:r>
              <a:rPr lang="en-US" sz="7048" dirty="0">
                <a:solidFill>
                  <a:srgbClr val="FFFFFF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7983" y="2621538"/>
            <a:ext cx="15432033" cy="573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Đề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tài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này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tập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trung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vào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việc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phân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tích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và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dự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đoán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giá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các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sản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phẩm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thuộc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danh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mục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đồ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dùng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“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Mẹ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và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bé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”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trên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địa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bàn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thành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phố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Hồ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Chí Minh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bằng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cách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sử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dụng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mô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hình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Random Forest Regression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. </a:t>
            </a:r>
          </a:p>
          <a:p>
            <a:pPr algn="just">
              <a:lnSpc>
                <a:spcPts val="4480"/>
              </a:lnSpc>
            </a:pPr>
            <a:endParaRPr lang="en-US" sz="3600" dirty="0">
              <a:solidFill>
                <a:srgbClr val="1B1C54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algn="just">
              <a:lnSpc>
                <a:spcPts val="4480"/>
              </a:lnSpc>
            </a:pP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Kết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quả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cho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thấy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độ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chính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xác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của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mô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hình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dưới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35%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.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Điều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này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có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thể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xác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định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rằng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chất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lượng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mô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hình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cần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phải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được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cải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thiện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nhiều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.</a:t>
            </a:r>
          </a:p>
          <a:p>
            <a:pPr algn="just">
              <a:lnSpc>
                <a:spcPts val="4480"/>
              </a:lnSpc>
            </a:pPr>
            <a:endParaRPr lang="en-US" sz="3600" dirty="0">
              <a:solidFill>
                <a:srgbClr val="1B1C54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0" lvl="0" indent="0" algn="just">
              <a:lnSpc>
                <a:spcPts val="4480"/>
              </a:lnSpc>
              <a:spcBef>
                <a:spcPct val="0"/>
              </a:spcBef>
            </a:pP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Bộ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dữ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liệu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phân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tích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được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nhóm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tự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thu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thập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tại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trang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web 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chotot.com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.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Bộ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dữ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liệu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và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đề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tài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do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nhóm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tự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phân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tích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thiết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kế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và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không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dựa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trên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đề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tài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nào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khác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.</a:t>
            </a:r>
          </a:p>
        </p:txBody>
      </p:sp>
      <p:pic>
        <p:nvPicPr>
          <p:cNvPr id="12" name="Picture 1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C3C5045B-3897-E6F7-DCBE-A27E09C56F6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8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C21B78-F46B-3323-868F-F32C0B42D1E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10" name="Freeform 7">
            <a:extLst>
              <a:ext uri="{FF2B5EF4-FFF2-40B4-BE49-F238E27FC236}">
                <a16:creationId xmlns:a16="http://schemas.microsoft.com/office/drawing/2014/main" id="{BF183EC9-DAFD-69E0-D0CD-C68180F0D174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0F5A2FB2-2774-0FDE-19D7-498F21D6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4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34B02-B8BB-5959-2BE9-26B92423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">
            <a:extLst>
              <a:ext uri="{FF2B5EF4-FFF2-40B4-BE49-F238E27FC236}">
                <a16:creationId xmlns:a16="http://schemas.microsoft.com/office/drawing/2014/main" id="{5CD1508A-C263-300B-E12F-83282E0F577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735" b="-497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6FFBE0C-4779-84A7-4C92-4B1B14088574}"/>
              </a:ext>
            </a:extLst>
          </p:cNvPr>
          <p:cNvSpPr/>
          <p:nvPr/>
        </p:nvSpPr>
        <p:spPr>
          <a:xfrm>
            <a:off x="-1587332" y="8680799"/>
            <a:ext cx="4335636" cy="3902073"/>
          </a:xfrm>
          <a:custGeom>
            <a:avLst/>
            <a:gdLst/>
            <a:ahLst/>
            <a:cxnLst/>
            <a:rect l="l" t="t" r="r" b="b"/>
            <a:pathLst>
              <a:path w="4335636" h="3902073">
                <a:moveTo>
                  <a:pt x="0" y="0"/>
                </a:moveTo>
                <a:lnTo>
                  <a:pt x="4335636" y="0"/>
                </a:lnTo>
                <a:lnTo>
                  <a:pt x="4335636" y="3902072"/>
                </a:lnTo>
                <a:lnTo>
                  <a:pt x="0" y="3902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FAE5E12-53ED-D1D9-16AB-1BD04033FB81}"/>
              </a:ext>
            </a:extLst>
          </p:cNvPr>
          <p:cNvSpPr/>
          <p:nvPr/>
        </p:nvSpPr>
        <p:spPr>
          <a:xfrm rot="5400000">
            <a:off x="10374777" y="-1821931"/>
            <a:ext cx="3841260" cy="3029794"/>
          </a:xfrm>
          <a:custGeom>
            <a:avLst/>
            <a:gdLst/>
            <a:ahLst/>
            <a:cxnLst/>
            <a:rect l="l" t="t" r="r" b="b"/>
            <a:pathLst>
              <a:path w="3841260" h="3029794">
                <a:moveTo>
                  <a:pt x="0" y="0"/>
                </a:moveTo>
                <a:lnTo>
                  <a:pt x="3841260" y="0"/>
                </a:lnTo>
                <a:lnTo>
                  <a:pt x="3841260" y="3029794"/>
                </a:lnTo>
                <a:lnTo>
                  <a:pt x="0" y="3029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2" name="Picture 4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EC813027-930C-8077-AD53-F9B0780703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9DE6428-3A1C-3AF7-7BC1-03A96A8C4D1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36" name="TextBox 9">
            <a:extLst>
              <a:ext uri="{FF2B5EF4-FFF2-40B4-BE49-F238E27FC236}">
                <a16:creationId xmlns:a16="http://schemas.microsoft.com/office/drawing/2014/main" id="{183F3864-87B0-AB43-E37F-E189EE7C6DAF}"/>
              </a:ext>
            </a:extLst>
          </p:cNvPr>
          <p:cNvSpPr txBox="1"/>
          <p:nvPr/>
        </p:nvSpPr>
        <p:spPr>
          <a:xfrm>
            <a:off x="2740305" y="5248134"/>
            <a:ext cx="3886199" cy="218136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1" algn="ctr">
              <a:lnSpc>
                <a:spcPts val="11200"/>
              </a:lnSpc>
            </a:pPr>
            <a:r>
              <a:rPr lang="en-US" sz="28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II.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AC0E19EE-C290-06CE-7206-B0732B732728}"/>
              </a:ext>
            </a:extLst>
          </p:cNvPr>
          <p:cNvSpPr txBox="1"/>
          <p:nvPr/>
        </p:nvSpPr>
        <p:spPr>
          <a:xfrm>
            <a:off x="6474105" y="3728978"/>
            <a:ext cx="9223095" cy="286232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1">
              <a:spcAft>
                <a:spcPts val="1200"/>
              </a:spcAft>
            </a:pPr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CƠ SỞ</a:t>
            </a:r>
          </a:p>
          <a:p>
            <a:pPr lvl="1">
              <a:spcAft>
                <a:spcPts val="1200"/>
              </a:spcAft>
            </a:pPr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LÝ THUYẾT</a:t>
            </a: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0A0ED937-77A3-5F40-E622-DFAD8BA0DD61}"/>
              </a:ext>
            </a:extLst>
          </p:cNvPr>
          <p:cNvSpPr/>
          <p:nvPr/>
        </p:nvSpPr>
        <p:spPr>
          <a:xfrm>
            <a:off x="0" y="-434848"/>
            <a:ext cx="4773662" cy="1783466"/>
          </a:xfrm>
          <a:custGeom>
            <a:avLst/>
            <a:gdLst/>
            <a:ahLst/>
            <a:cxnLst/>
            <a:rect l="l" t="t" r="r" b="b"/>
            <a:pathLst>
              <a:path w="4773662" h="1783466">
                <a:moveTo>
                  <a:pt x="0" y="0"/>
                </a:moveTo>
                <a:lnTo>
                  <a:pt x="4773662" y="0"/>
                </a:lnTo>
                <a:lnTo>
                  <a:pt x="4773662" y="1783466"/>
                </a:lnTo>
                <a:lnTo>
                  <a:pt x="0" y="1783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84033" b="-8362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06F5EF52-2F84-2BCD-0067-8EB3ABE243A2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458187F-71AE-625A-1B89-542A6563D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5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81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C1607-0576-13CA-B5D5-5BDD01DA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">
            <a:extLst>
              <a:ext uri="{FF2B5EF4-FFF2-40B4-BE49-F238E27FC236}">
                <a16:creationId xmlns:a16="http://schemas.microsoft.com/office/drawing/2014/main" id="{0039B121-B5C4-B2B3-7C06-51AE6515C54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735" b="-497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DA388E5-7548-9325-7E7A-34C4372CA782}"/>
              </a:ext>
            </a:extLst>
          </p:cNvPr>
          <p:cNvSpPr/>
          <p:nvPr/>
        </p:nvSpPr>
        <p:spPr>
          <a:xfrm>
            <a:off x="-1587332" y="8680799"/>
            <a:ext cx="4335636" cy="3902073"/>
          </a:xfrm>
          <a:custGeom>
            <a:avLst/>
            <a:gdLst/>
            <a:ahLst/>
            <a:cxnLst/>
            <a:rect l="l" t="t" r="r" b="b"/>
            <a:pathLst>
              <a:path w="4335636" h="3902073">
                <a:moveTo>
                  <a:pt x="0" y="0"/>
                </a:moveTo>
                <a:lnTo>
                  <a:pt x="4335636" y="0"/>
                </a:lnTo>
                <a:lnTo>
                  <a:pt x="4335636" y="3902072"/>
                </a:lnTo>
                <a:lnTo>
                  <a:pt x="0" y="3902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A1A120F-401A-3A7F-18CF-2D75208AE6B9}"/>
              </a:ext>
            </a:extLst>
          </p:cNvPr>
          <p:cNvSpPr/>
          <p:nvPr/>
        </p:nvSpPr>
        <p:spPr>
          <a:xfrm rot="5400000">
            <a:off x="10374777" y="-1821931"/>
            <a:ext cx="3841260" cy="3029794"/>
          </a:xfrm>
          <a:custGeom>
            <a:avLst/>
            <a:gdLst/>
            <a:ahLst/>
            <a:cxnLst/>
            <a:rect l="l" t="t" r="r" b="b"/>
            <a:pathLst>
              <a:path w="3841260" h="3029794">
                <a:moveTo>
                  <a:pt x="0" y="0"/>
                </a:moveTo>
                <a:lnTo>
                  <a:pt x="3841260" y="0"/>
                </a:lnTo>
                <a:lnTo>
                  <a:pt x="3841260" y="3029794"/>
                </a:lnTo>
                <a:lnTo>
                  <a:pt x="0" y="3029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2" name="Picture 4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B8A06CD9-8DCE-20C0-E64C-7E22F9F8EE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6C15342-04D6-039C-60BF-8B12D4587C5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36" name="TextBox 9">
            <a:extLst>
              <a:ext uri="{FF2B5EF4-FFF2-40B4-BE49-F238E27FC236}">
                <a16:creationId xmlns:a16="http://schemas.microsoft.com/office/drawing/2014/main" id="{A6204ADD-CA9E-7A16-2E58-A0FC6DE80D51}"/>
              </a:ext>
            </a:extLst>
          </p:cNvPr>
          <p:cNvSpPr txBox="1"/>
          <p:nvPr/>
        </p:nvSpPr>
        <p:spPr>
          <a:xfrm>
            <a:off x="1090843" y="5248134"/>
            <a:ext cx="4773662" cy="218136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1" algn="ctr">
              <a:lnSpc>
                <a:spcPts val="11200"/>
              </a:lnSpc>
            </a:pPr>
            <a:r>
              <a:rPr lang="en-US" sz="28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III.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74400C5C-4EAB-15B0-9BDC-A7D40E0902EF}"/>
              </a:ext>
            </a:extLst>
          </p:cNvPr>
          <p:cNvSpPr txBox="1"/>
          <p:nvPr/>
        </p:nvSpPr>
        <p:spPr>
          <a:xfrm>
            <a:off x="5712105" y="3728978"/>
            <a:ext cx="11509095" cy="286232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1">
              <a:spcAft>
                <a:spcPts val="1200"/>
              </a:spcAft>
            </a:pPr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PHƯƠNG PHÁP</a:t>
            </a:r>
          </a:p>
          <a:p>
            <a:pPr lvl="1">
              <a:spcAft>
                <a:spcPts val="1200"/>
              </a:spcAft>
            </a:pPr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THỰC HIỆN</a:t>
            </a: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D615552A-5964-5CF6-6A20-48F56E7A927C}"/>
              </a:ext>
            </a:extLst>
          </p:cNvPr>
          <p:cNvSpPr/>
          <p:nvPr/>
        </p:nvSpPr>
        <p:spPr>
          <a:xfrm>
            <a:off x="0" y="-434848"/>
            <a:ext cx="4773662" cy="1783466"/>
          </a:xfrm>
          <a:custGeom>
            <a:avLst/>
            <a:gdLst/>
            <a:ahLst/>
            <a:cxnLst/>
            <a:rect l="l" t="t" r="r" b="b"/>
            <a:pathLst>
              <a:path w="4773662" h="1783466">
                <a:moveTo>
                  <a:pt x="0" y="0"/>
                </a:moveTo>
                <a:lnTo>
                  <a:pt x="4773662" y="0"/>
                </a:lnTo>
                <a:lnTo>
                  <a:pt x="4773662" y="1783466"/>
                </a:lnTo>
                <a:lnTo>
                  <a:pt x="0" y="1783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84033" b="-8362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E4AFCFAF-4FF9-1F50-78E5-9CA5D8A7CF50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1A50E12-9561-38E3-78A7-06ACC93B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6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87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9739814">
            <a:off x="-1445012" y="1665074"/>
            <a:ext cx="2890024" cy="2967932"/>
          </a:xfrm>
          <a:custGeom>
            <a:avLst/>
            <a:gdLst/>
            <a:ahLst/>
            <a:cxnLst/>
            <a:rect l="l" t="t" r="r" b="b"/>
            <a:pathLst>
              <a:path w="2890024" h="2967932">
                <a:moveTo>
                  <a:pt x="0" y="0"/>
                </a:moveTo>
                <a:lnTo>
                  <a:pt x="2890024" y="0"/>
                </a:lnTo>
                <a:lnTo>
                  <a:pt x="2890024" y="2967931"/>
                </a:lnTo>
                <a:lnTo>
                  <a:pt x="0" y="2967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396348" y="8680301"/>
            <a:ext cx="4214440" cy="3455841"/>
          </a:xfrm>
          <a:custGeom>
            <a:avLst/>
            <a:gdLst/>
            <a:ahLst/>
            <a:cxnLst/>
            <a:rect l="l" t="t" r="r" b="b"/>
            <a:pathLst>
              <a:path w="4214440" h="3455841">
                <a:moveTo>
                  <a:pt x="0" y="0"/>
                </a:moveTo>
                <a:lnTo>
                  <a:pt x="4214440" y="0"/>
                </a:lnTo>
                <a:lnTo>
                  <a:pt x="4214440" y="3455841"/>
                </a:lnTo>
                <a:lnTo>
                  <a:pt x="0" y="345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50368" y="2360211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7"/>
                </a:lnTo>
                <a:lnTo>
                  <a:pt x="0" y="900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2D7E441-12E0-6715-0C45-6233D40B8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326243"/>
              </p:ext>
            </p:extLst>
          </p:nvPr>
        </p:nvGraphicFramePr>
        <p:xfrm>
          <a:off x="838200" y="2400302"/>
          <a:ext cx="16687800" cy="685799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01779">
                  <a:extLst>
                    <a:ext uri="{9D8B030D-6E8A-4147-A177-3AD203B41FA5}">
                      <a16:colId xmlns:a16="http://schemas.microsoft.com/office/drawing/2014/main" val="958878294"/>
                    </a:ext>
                  </a:extLst>
                </a:gridCol>
                <a:gridCol w="6242021">
                  <a:extLst>
                    <a:ext uri="{9D8B030D-6E8A-4147-A177-3AD203B41FA5}">
                      <a16:colId xmlns:a16="http://schemas.microsoft.com/office/drawing/2014/main" val="403970703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7623973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36601462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4147407"/>
                    </a:ext>
                  </a:extLst>
                </a:gridCol>
              </a:tblGrid>
              <a:tr h="105507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STT</a:t>
                      </a:r>
                      <a:endParaRPr lang="en-US" sz="3100" b="1" dirty="0">
                        <a:solidFill>
                          <a:schemeClr val="bg1"/>
                        </a:solidFill>
                        <a:effectLst/>
                        <a:latin typeface="Bai Jamjuree Bold" panose="020B0604020202020204" charset="-34"/>
                        <a:ea typeface="Calibri" panose="020F0502020204030204" pitchFamily="34" charset="0"/>
                        <a:cs typeface="Bai Jamjuree Bold" panose="020B0604020202020204" charset="-34"/>
                      </a:endParaRPr>
                    </a:p>
                  </a:txBody>
                  <a:tcPr marL="52223" marR="52223" marT="0" marB="0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Tên</a:t>
                      </a: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 </a:t>
                      </a: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cột</a:t>
                      </a:r>
                      <a:endParaRPr lang="en-US" sz="3100" b="1" dirty="0">
                        <a:solidFill>
                          <a:schemeClr val="bg1"/>
                        </a:solidFill>
                        <a:effectLst/>
                        <a:latin typeface="Bai Jamjuree Bold" panose="020B0604020202020204" charset="-34"/>
                        <a:ea typeface="Calibri" panose="020F0502020204030204" pitchFamily="34" charset="0"/>
                        <a:cs typeface="Bai Jamjuree Bold" panose="020B0604020202020204" charset="-34"/>
                      </a:endParaRPr>
                    </a:p>
                  </a:txBody>
                  <a:tcPr marL="52223" marR="52223" marT="0" marB="0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Kiểu</a:t>
                      </a: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 </a:t>
                      </a: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dữ</a:t>
                      </a: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 </a:t>
                      </a: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liệu</a:t>
                      </a:r>
                      <a:endParaRPr lang="en-US" sz="3100" b="1" dirty="0">
                        <a:solidFill>
                          <a:schemeClr val="bg1"/>
                        </a:solidFill>
                        <a:effectLst/>
                        <a:latin typeface="Bai Jamjuree Bold" panose="020B0604020202020204" charset="-34"/>
                        <a:ea typeface="Calibri" panose="020F0502020204030204" pitchFamily="34" charset="0"/>
                        <a:cs typeface="Bai Jamjuree Bold" panose="020B0604020202020204" charset="-34"/>
                      </a:endParaRPr>
                    </a:p>
                  </a:txBody>
                  <a:tcPr marL="52223" marR="52223" marT="0" marB="0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Phạm vi</a:t>
                      </a:r>
                      <a:endParaRPr lang="en-US" sz="3100" b="1" dirty="0">
                        <a:solidFill>
                          <a:schemeClr val="bg1"/>
                        </a:solidFill>
                        <a:effectLst/>
                        <a:latin typeface="Bai Jamjuree Bold" panose="020B0604020202020204" charset="-34"/>
                        <a:ea typeface="Calibri" panose="020F0502020204030204" pitchFamily="34" charset="0"/>
                        <a:cs typeface="Bai Jamjuree Bold" panose="020B0604020202020204" charset="-34"/>
                      </a:endParaRPr>
                    </a:p>
                  </a:txBody>
                  <a:tcPr marL="52223" marR="52223" marT="0" marB="0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Giải</a:t>
                      </a: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 </a:t>
                      </a: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thích</a:t>
                      </a:r>
                      <a:endParaRPr lang="en-US" sz="3100" b="1" dirty="0">
                        <a:solidFill>
                          <a:schemeClr val="bg1"/>
                        </a:solidFill>
                        <a:effectLst/>
                        <a:latin typeface="Bai Jamjuree Bold" panose="020B0604020202020204" charset="-34"/>
                        <a:ea typeface="Calibri" panose="020F0502020204030204" pitchFamily="34" charset="0"/>
                        <a:cs typeface="Bai Jamjuree Bold" panose="020B0604020202020204" charset="-34"/>
                      </a:endParaRPr>
                    </a:p>
                  </a:txBody>
                  <a:tcPr marL="52223" marR="52223" marT="0" marB="0" anchor="ctr"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108343"/>
                  </a:ext>
                </a:extLst>
              </a:tr>
              <a:tr h="105507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1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ten_san_pham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object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Giày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cho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bé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, …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Mô tả cụ thể tên sản phẩm 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extLst>
                  <a:ext uri="{0D108BD9-81ED-4DB2-BD59-A6C34878D82A}">
                    <a16:rowId xmlns:a16="http://schemas.microsoft.com/office/drawing/2014/main" val="1463125572"/>
                  </a:ext>
                </a:extLst>
              </a:tr>
              <a:tr h="158261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2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dia_chi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object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Mẹ và bé Quận Gò Vấp, …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Thông tin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địa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chỉ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của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người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bán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sản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phẩm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ở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khu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vực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TP.HCM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extLst>
                  <a:ext uri="{0D108BD9-81ED-4DB2-BD59-A6C34878D82A}">
                    <a16:rowId xmlns:a16="http://schemas.microsoft.com/office/drawing/2014/main" val="2645340880"/>
                  </a:ext>
                </a:extLst>
              </a:tr>
              <a:tr h="52754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3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so_luong_da_ban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object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[0;10]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Số lượng sản phẩm đã bán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extLst>
                  <a:ext uri="{0D108BD9-81ED-4DB2-BD59-A6C34878D82A}">
                    <a16:rowId xmlns:a16="http://schemas.microsoft.com/office/drawing/2014/main" val="1366203161"/>
                  </a:ext>
                </a:extLst>
              </a:tr>
              <a:tr h="105507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4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so_luot_danh_gia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int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[0;11]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Số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lượt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đánh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giá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sản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phẩm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extLst>
                  <a:ext uri="{0D108BD9-81ED-4DB2-BD59-A6C34878D82A}">
                    <a16:rowId xmlns:a16="http://schemas.microsoft.com/office/drawing/2014/main" val="3497412541"/>
                  </a:ext>
                </a:extLst>
              </a:tr>
              <a:tr h="52754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5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so_sao_danh_gia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float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[1.0; 5.0]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Số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sao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đánh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giá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sản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phẩm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extLst>
                  <a:ext uri="{0D108BD9-81ED-4DB2-BD59-A6C34878D82A}">
                    <a16:rowId xmlns:a16="http://schemas.microsoft.com/office/drawing/2014/main" val="2136821744"/>
                  </a:ext>
                </a:extLst>
              </a:tr>
              <a:tr h="105507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6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spc="-2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thoi_gian_cap_nhat_san_pham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object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4 ngày trước, …</a:t>
                      </a:r>
                      <a:endParaRPr lang="en-US" sz="310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Thời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gian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cập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nhật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sản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phẩm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extLst>
                  <a:ext uri="{0D108BD9-81ED-4DB2-BD59-A6C34878D82A}">
                    <a16:rowId xmlns:a16="http://schemas.microsoft.com/office/drawing/2014/main" val="3934641774"/>
                  </a:ext>
                </a:extLst>
              </a:tr>
            </a:tbl>
          </a:graphicData>
        </a:graphic>
      </p:graphicFrame>
      <p:pic>
        <p:nvPicPr>
          <p:cNvPr id="14" name="Picture 13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8930A755-2DD2-6B61-AFA9-C3D0EF63D6E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7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D4C3A3C-5C14-4EB0-20C9-F254B64F7DD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10" name="Freeform 8">
            <a:extLst>
              <a:ext uri="{FF2B5EF4-FFF2-40B4-BE49-F238E27FC236}">
                <a16:creationId xmlns:a16="http://schemas.microsoft.com/office/drawing/2014/main" id="{FCDFE19F-9200-1408-B348-E267AC83E373}"/>
              </a:ext>
            </a:extLst>
          </p:cNvPr>
          <p:cNvSpPr/>
          <p:nvPr/>
        </p:nvSpPr>
        <p:spPr>
          <a:xfrm flipH="1">
            <a:off x="-1906192" y="-605688"/>
            <a:ext cx="5156756" cy="2012695"/>
          </a:xfrm>
          <a:custGeom>
            <a:avLst/>
            <a:gdLst/>
            <a:ahLst/>
            <a:cxnLst/>
            <a:rect l="l" t="t" r="r" b="b"/>
            <a:pathLst>
              <a:path w="5156756" h="2462351">
                <a:moveTo>
                  <a:pt x="5156756" y="0"/>
                </a:moveTo>
                <a:lnTo>
                  <a:pt x="0" y="0"/>
                </a:lnTo>
                <a:lnTo>
                  <a:pt x="0" y="2462351"/>
                </a:lnTo>
                <a:lnTo>
                  <a:pt x="5156756" y="2462351"/>
                </a:lnTo>
                <a:lnTo>
                  <a:pt x="515675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b="-2234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3725252-2E1E-C6C7-6DD6-C419B0243C39}"/>
              </a:ext>
            </a:extLst>
          </p:cNvPr>
          <p:cNvSpPr txBox="1"/>
          <p:nvPr/>
        </p:nvSpPr>
        <p:spPr>
          <a:xfrm>
            <a:off x="193467" y="84855"/>
            <a:ext cx="103481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67"/>
              </a:lnSpc>
              <a:spcBef>
                <a:spcPct val="0"/>
              </a:spcBef>
            </a:pPr>
            <a:r>
              <a:rPr lang="en-US" sz="7048" dirty="0">
                <a:solidFill>
                  <a:srgbClr val="FFFFFF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I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C7ADC2C9-6004-A846-D271-A171A00FEA5A}"/>
              </a:ext>
            </a:extLst>
          </p:cNvPr>
          <p:cNvSpPr txBox="1"/>
          <p:nvPr/>
        </p:nvSpPr>
        <p:spPr>
          <a:xfrm>
            <a:off x="2765513" y="33018"/>
            <a:ext cx="9121687" cy="9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9"/>
              </a:lnSpc>
              <a:spcBef>
                <a:spcPct val="0"/>
              </a:spcBef>
            </a:pPr>
            <a:r>
              <a:rPr lang="en-US" sz="40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TỔNG QUAN ĐỀ TÀI</a:t>
            </a: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E27ACC92-16D1-87A7-DD4A-9F1E732DC6CC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7F23107C-091C-5A58-44FA-32899BD9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7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E9EF8-EEA5-B5C9-393D-13EFFA3F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24FACC-2A3B-B7D9-5BF2-DCE96416417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4" name="Picture 13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D175051A-FB2C-FB88-1D4B-F20772EBC13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2D46411B-47DE-9AD2-1003-DBBCDEC6762E}"/>
              </a:ext>
            </a:extLst>
          </p:cNvPr>
          <p:cNvSpPr/>
          <p:nvPr/>
        </p:nvSpPr>
        <p:spPr>
          <a:xfrm rot="9739814">
            <a:off x="-1445012" y="1665074"/>
            <a:ext cx="2890024" cy="2967932"/>
          </a:xfrm>
          <a:custGeom>
            <a:avLst/>
            <a:gdLst/>
            <a:ahLst/>
            <a:cxnLst/>
            <a:rect l="l" t="t" r="r" b="b"/>
            <a:pathLst>
              <a:path w="2890024" h="2967932">
                <a:moveTo>
                  <a:pt x="0" y="0"/>
                </a:moveTo>
                <a:lnTo>
                  <a:pt x="2890024" y="0"/>
                </a:lnTo>
                <a:lnTo>
                  <a:pt x="2890024" y="2967931"/>
                </a:lnTo>
                <a:lnTo>
                  <a:pt x="0" y="2967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44BE170-8B2F-F890-AA95-490972D21D75}"/>
              </a:ext>
            </a:extLst>
          </p:cNvPr>
          <p:cNvSpPr/>
          <p:nvPr/>
        </p:nvSpPr>
        <p:spPr>
          <a:xfrm>
            <a:off x="-1396348" y="8680301"/>
            <a:ext cx="4214440" cy="3455841"/>
          </a:xfrm>
          <a:custGeom>
            <a:avLst/>
            <a:gdLst/>
            <a:ahLst/>
            <a:cxnLst/>
            <a:rect l="l" t="t" r="r" b="b"/>
            <a:pathLst>
              <a:path w="4214440" h="3455841">
                <a:moveTo>
                  <a:pt x="0" y="0"/>
                </a:moveTo>
                <a:lnTo>
                  <a:pt x="4214440" y="0"/>
                </a:lnTo>
                <a:lnTo>
                  <a:pt x="4214440" y="3455841"/>
                </a:lnTo>
                <a:lnTo>
                  <a:pt x="0" y="345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F4FC0C1-7E2E-9033-AE22-8DACC3CD4660}"/>
              </a:ext>
            </a:extLst>
          </p:cNvPr>
          <p:cNvSpPr/>
          <p:nvPr/>
        </p:nvSpPr>
        <p:spPr>
          <a:xfrm>
            <a:off x="-50368" y="2360211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7"/>
                </a:lnTo>
                <a:lnTo>
                  <a:pt x="0" y="900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D75743E-A433-69C5-5E9C-068718F32125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1E92298-7601-4C4C-F572-5D13363A8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675080"/>
              </p:ext>
            </p:extLst>
          </p:nvPr>
        </p:nvGraphicFramePr>
        <p:xfrm>
          <a:off x="838200" y="2476500"/>
          <a:ext cx="16840199" cy="6766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95887829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03970703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97623973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660146273"/>
                    </a:ext>
                  </a:extLst>
                </a:gridCol>
                <a:gridCol w="5638799">
                  <a:extLst>
                    <a:ext uri="{9D8B030D-6E8A-4147-A177-3AD203B41FA5}">
                      <a16:colId xmlns:a16="http://schemas.microsoft.com/office/drawing/2014/main" val="384147407"/>
                    </a:ext>
                  </a:extLst>
                </a:gridCol>
              </a:tblGrid>
              <a:tr h="135331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STT</a:t>
                      </a:r>
                      <a:endParaRPr lang="en-US" sz="3100" b="1" dirty="0">
                        <a:solidFill>
                          <a:schemeClr val="bg1"/>
                        </a:solidFill>
                        <a:effectLst/>
                        <a:latin typeface="Bai Jamjuree Bold" panose="020B0604020202020204" charset="-34"/>
                        <a:ea typeface="Calibri" panose="020F0502020204030204" pitchFamily="34" charset="0"/>
                        <a:cs typeface="Bai Jamjuree Bold" panose="020B0604020202020204" charset="-34"/>
                      </a:endParaRPr>
                    </a:p>
                  </a:txBody>
                  <a:tcPr marL="52223" marR="52223" marT="0" marB="0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Tên</a:t>
                      </a: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 </a:t>
                      </a: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cột</a:t>
                      </a:r>
                      <a:endParaRPr lang="en-US" sz="3100" b="1" dirty="0">
                        <a:solidFill>
                          <a:schemeClr val="bg1"/>
                        </a:solidFill>
                        <a:effectLst/>
                        <a:latin typeface="Bai Jamjuree Bold" panose="020B0604020202020204" charset="-34"/>
                        <a:ea typeface="Calibri" panose="020F0502020204030204" pitchFamily="34" charset="0"/>
                        <a:cs typeface="Bai Jamjuree Bold" panose="020B0604020202020204" charset="-34"/>
                      </a:endParaRPr>
                    </a:p>
                  </a:txBody>
                  <a:tcPr marL="52223" marR="52223" marT="0" marB="0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Kiểu</a:t>
                      </a: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 </a:t>
                      </a: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dữ</a:t>
                      </a: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 </a:t>
                      </a: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liệu</a:t>
                      </a:r>
                      <a:endParaRPr lang="en-US" sz="3100" b="1" dirty="0">
                        <a:solidFill>
                          <a:schemeClr val="bg1"/>
                        </a:solidFill>
                        <a:effectLst/>
                        <a:latin typeface="Bai Jamjuree Bold" panose="020B0604020202020204" charset="-34"/>
                        <a:ea typeface="Calibri" panose="020F0502020204030204" pitchFamily="34" charset="0"/>
                        <a:cs typeface="Bai Jamjuree Bold" panose="020B0604020202020204" charset="-34"/>
                      </a:endParaRPr>
                    </a:p>
                  </a:txBody>
                  <a:tcPr marL="52223" marR="52223" marT="0" marB="0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Phạm vi</a:t>
                      </a:r>
                      <a:endParaRPr lang="en-US" sz="3100" b="1" dirty="0">
                        <a:solidFill>
                          <a:schemeClr val="bg1"/>
                        </a:solidFill>
                        <a:effectLst/>
                        <a:latin typeface="Bai Jamjuree Bold" panose="020B0604020202020204" charset="-34"/>
                        <a:ea typeface="Calibri" panose="020F0502020204030204" pitchFamily="34" charset="0"/>
                        <a:cs typeface="Bai Jamjuree Bold" panose="020B0604020202020204" charset="-34"/>
                      </a:endParaRPr>
                    </a:p>
                  </a:txBody>
                  <a:tcPr marL="52223" marR="52223" marT="0" marB="0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Giải</a:t>
                      </a:r>
                      <a:r>
                        <a:rPr lang="en-US" sz="3100" b="1" dirty="0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 </a:t>
                      </a:r>
                      <a:r>
                        <a:rPr lang="en-US" sz="3100" b="1" dirty="0" err="1">
                          <a:solidFill>
                            <a:schemeClr val="bg1"/>
                          </a:solidFill>
                          <a:effectLst/>
                          <a:latin typeface="Bai Jamjuree Bold" panose="020B0604020202020204" charset="-34"/>
                          <a:cs typeface="Bai Jamjuree Bold" panose="020B0604020202020204" charset="-34"/>
                        </a:rPr>
                        <a:t>thích</a:t>
                      </a:r>
                      <a:endParaRPr lang="en-US" sz="3100" b="1" dirty="0">
                        <a:solidFill>
                          <a:schemeClr val="bg1"/>
                        </a:solidFill>
                        <a:effectLst/>
                        <a:latin typeface="Bai Jamjuree Bold" panose="020B0604020202020204" charset="-34"/>
                        <a:ea typeface="Calibri" panose="020F0502020204030204" pitchFamily="34" charset="0"/>
                        <a:cs typeface="Bai Jamjuree Bold" panose="020B0604020202020204" charset="-34"/>
                      </a:endParaRPr>
                    </a:p>
                  </a:txBody>
                  <a:tcPr marL="52223" marR="52223" marT="0" marB="0" anchor="ctr"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10834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7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tinh_trang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object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Mới, Đã sử dụng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Tình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trạng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sử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dụng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sản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phẩm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312557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8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loai_san_pham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object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xe_day, 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Loại sản phẩm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4534088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9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size_bucket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object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lon, nho, trung_binh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Kích thước sản phẩm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6620316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10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mau_sac_chu_dao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object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xám, đỏ, vàng, 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Màu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sắc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chủ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đạo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sản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phẩm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741254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11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object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Chilux, Joie, 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Hãng của sản phẩm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6821744"/>
                  </a:ext>
                </a:extLst>
              </a:tr>
              <a:tr h="135331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12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gioi_tinh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object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nam, nu, unisex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Loại sản phẩm dành cho giới tính nào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464177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3100" b="1" dirty="0">
                          <a:solidFill>
                            <a:srgbClr val="004AAD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13</a:t>
                      </a:r>
                      <a:endParaRPr lang="en-US" sz="3100" b="1" dirty="0">
                        <a:solidFill>
                          <a:srgbClr val="004AAD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gia_san_pham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cs typeface="Bai Jamjuree" panose="020B0604020202020204" charset="-34"/>
                        </a:rPr>
                        <a:t>object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52223" marR="52223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spc="-3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5.000.000 đ, </a:t>
                      </a:r>
                      <a:r>
                        <a:rPr lang="en-US" sz="3100" spc="-8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200.000 đ, …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Giá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sản</a:t>
                      </a:r>
                      <a:r>
                        <a:rPr lang="en-US" sz="3100" dirty="0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3100" dirty="0" err="1">
                          <a:solidFill>
                            <a:srgbClr val="1B1C54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phẩm</a:t>
                      </a:r>
                      <a:endParaRPr lang="en-US" sz="3100" dirty="0">
                        <a:solidFill>
                          <a:srgbClr val="1B1C54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655041"/>
                  </a:ext>
                </a:extLst>
              </a:tr>
            </a:tbl>
          </a:graphicData>
        </a:graphic>
      </p:graphicFrame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4EE293F-E84D-DC16-CDE8-A0C11405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8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5ECE2E-26E7-0D86-B968-97C4A0150CA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10" name="Freeform 8">
            <a:extLst>
              <a:ext uri="{FF2B5EF4-FFF2-40B4-BE49-F238E27FC236}">
                <a16:creationId xmlns:a16="http://schemas.microsoft.com/office/drawing/2014/main" id="{512C1803-A0EF-F7BF-0A12-CD2C8B750150}"/>
              </a:ext>
            </a:extLst>
          </p:cNvPr>
          <p:cNvSpPr/>
          <p:nvPr/>
        </p:nvSpPr>
        <p:spPr>
          <a:xfrm flipH="1">
            <a:off x="-1906192" y="-605688"/>
            <a:ext cx="5156756" cy="2012695"/>
          </a:xfrm>
          <a:custGeom>
            <a:avLst/>
            <a:gdLst/>
            <a:ahLst/>
            <a:cxnLst/>
            <a:rect l="l" t="t" r="r" b="b"/>
            <a:pathLst>
              <a:path w="5156756" h="2462351">
                <a:moveTo>
                  <a:pt x="5156756" y="0"/>
                </a:moveTo>
                <a:lnTo>
                  <a:pt x="0" y="0"/>
                </a:lnTo>
                <a:lnTo>
                  <a:pt x="0" y="2462351"/>
                </a:lnTo>
                <a:lnTo>
                  <a:pt x="5156756" y="2462351"/>
                </a:lnTo>
                <a:lnTo>
                  <a:pt x="515675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2234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F2B84226-5B29-29CB-9801-A969770D2F5B}"/>
              </a:ext>
            </a:extLst>
          </p:cNvPr>
          <p:cNvSpPr txBox="1"/>
          <p:nvPr/>
        </p:nvSpPr>
        <p:spPr>
          <a:xfrm>
            <a:off x="193467" y="84855"/>
            <a:ext cx="103481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67"/>
              </a:lnSpc>
              <a:spcBef>
                <a:spcPct val="0"/>
              </a:spcBef>
            </a:pPr>
            <a:r>
              <a:rPr lang="en-US" sz="7048" dirty="0">
                <a:solidFill>
                  <a:srgbClr val="FFFFFF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I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83CE1A23-D266-1ED8-6CC7-937354A3A660}"/>
              </a:ext>
            </a:extLst>
          </p:cNvPr>
          <p:cNvSpPr txBox="1"/>
          <p:nvPr/>
        </p:nvSpPr>
        <p:spPr>
          <a:xfrm>
            <a:off x="2765513" y="33018"/>
            <a:ext cx="9121687" cy="9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9"/>
              </a:lnSpc>
              <a:spcBef>
                <a:spcPct val="0"/>
              </a:spcBef>
            </a:pPr>
            <a:r>
              <a:rPr lang="en-US" sz="40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TỔNG QUAN ĐỀ TÀI</a:t>
            </a:r>
          </a:p>
        </p:txBody>
      </p:sp>
    </p:spTree>
    <p:extLst>
      <p:ext uri="{BB962C8B-B14F-4D97-AF65-F5344CB8AC3E}">
        <p14:creationId xmlns:p14="http://schemas.microsoft.com/office/powerpoint/2010/main" val="1170663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9739814">
            <a:off x="-1445012" y="1665074"/>
            <a:ext cx="2890024" cy="2967932"/>
          </a:xfrm>
          <a:custGeom>
            <a:avLst/>
            <a:gdLst/>
            <a:ahLst/>
            <a:cxnLst/>
            <a:rect l="l" t="t" r="r" b="b"/>
            <a:pathLst>
              <a:path w="2890024" h="2967932">
                <a:moveTo>
                  <a:pt x="0" y="0"/>
                </a:moveTo>
                <a:lnTo>
                  <a:pt x="2890024" y="0"/>
                </a:lnTo>
                <a:lnTo>
                  <a:pt x="2890024" y="2967931"/>
                </a:lnTo>
                <a:lnTo>
                  <a:pt x="0" y="2967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396348" y="8680301"/>
            <a:ext cx="4214440" cy="3455841"/>
          </a:xfrm>
          <a:custGeom>
            <a:avLst/>
            <a:gdLst/>
            <a:ahLst/>
            <a:cxnLst/>
            <a:rect l="l" t="t" r="r" b="b"/>
            <a:pathLst>
              <a:path w="4214440" h="3455841">
                <a:moveTo>
                  <a:pt x="0" y="0"/>
                </a:moveTo>
                <a:lnTo>
                  <a:pt x="4214440" y="0"/>
                </a:lnTo>
                <a:lnTo>
                  <a:pt x="4214440" y="3455841"/>
                </a:lnTo>
                <a:lnTo>
                  <a:pt x="0" y="345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50368" y="2360211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7"/>
                </a:lnTo>
                <a:lnTo>
                  <a:pt x="0" y="900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D2857F-E1FD-12A6-E1F8-34A6B9CD277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1882" y="3361369"/>
            <a:ext cx="16044236" cy="404147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7DFD3029-C23D-3974-E366-23E8EEA11906}"/>
              </a:ext>
            </a:extLst>
          </p:cNvPr>
          <p:cNvSpPr txBox="1"/>
          <p:nvPr/>
        </p:nvSpPr>
        <p:spPr>
          <a:xfrm>
            <a:off x="5043296" y="7734300"/>
            <a:ext cx="820140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US" sz="36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Quy </a:t>
            </a:r>
            <a:r>
              <a:rPr lang="en-US" sz="3600" b="1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trình</a:t>
            </a:r>
            <a:r>
              <a:rPr lang="en-US" sz="36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600" b="1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phân</a:t>
            </a:r>
            <a:r>
              <a:rPr lang="en-US" sz="36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600" b="1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tích</a:t>
            </a:r>
            <a:r>
              <a:rPr lang="en-US" sz="36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vi-VN" sz="36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dữ liệu</a:t>
            </a:r>
            <a:endParaRPr lang="en-US" sz="3600" b="1" dirty="0">
              <a:solidFill>
                <a:srgbClr val="1B1C54"/>
              </a:solidFill>
              <a:latin typeface="Bai Jamjuree Bold" panose="020B0604020202020204" charset="-34"/>
              <a:cs typeface="Bai Jamjuree Bold" panose="020B0604020202020204" charset="-34"/>
            </a:endParaRPr>
          </a:p>
        </p:txBody>
      </p:sp>
      <p:pic>
        <p:nvPicPr>
          <p:cNvPr id="12" name="Picture 1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D3F3090F-6413-3CAA-CC01-326B9918B885}"/>
              </a:ext>
            </a:extLst>
          </p:cNvPr>
          <p:cNvPicPr/>
          <p:nvPr/>
        </p:nvPicPr>
        <p:blipFill>
          <a:blip r:embed="rId8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4D4469-E093-DE1B-8C0A-30003077E41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11" name="Freeform 8">
            <a:extLst>
              <a:ext uri="{FF2B5EF4-FFF2-40B4-BE49-F238E27FC236}">
                <a16:creationId xmlns:a16="http://schemas.microsoft.com/office/drawing/2014/main" id="{FA1A86AC-F6DE-00A9-806C-B2CB47A4C353}"/>
              </a:ext>
            </a:extLst>
          </p:cNvPr>
          <p:cNvSpPr/>
          <p:nvPr/>
        </p:nvSpPr>
        <p:spPr>
          <a:xfrm flipH="1">
            <a:off x="-1906192" y="-605688"/>
            <a:ext cx="5156756" cy="2012695"/>
          </a:xfrm>
          <a:custGeom>
            <a:avLst/>
            <a:gdLst/>
            <a:ahLst/>
            <a:cxnLst/>
            <a:rect l="l" t="t" r="r" b="b"/>
            <a:pathLst>
              <a:path w="5156756" h="2462351">
                <a:moveTo>
                  <a:pt x="5156756" y="0"/>
                </a:moveTo>
                <a:lnTo>
                  <a:pt x="0" y="0"/>
                </a:lnTo>
                <a:lnTo>
                  <a:pt x="0" y="2462351"/>
                </a:lnTo>
                <a:lnTo>
                  <a:pt x="5156756" y="2462351"/>
                </a:lnTo>
                <a:lnTo>
                  <a:pt x="515675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2234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F21966A4-88E4-EB13-5DF0-EE9CC1905079}"/>
              </a:ext>
            </a:extLst>
          </p:cNvPr>
          <p:cNvSpPr txBox="1"/>
          <p:nvPr/>
        </p:nvSpPr>
        <p:spPr>
          <a:xfrm>
            <a:off x="193467" y="84855"/>
            <a:ext cx="103481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67"/>
              </a:lnSpc>
              <a:spcBef>
                <a:spcPct val="0"/>
              </a:spcBef>
            </a:pPr>
            <a:r>
              <a:rPr lang="en-US" sz="7048" dirty="0">
                <a:solidFill>
                  <a:srgbClr val="FFFFFF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I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B7DF52B5-B18E-44B8-0B63-067B129C1254}"/>
              </a:ext>
            </a:extLst>
          </p:cNvPr>
          <p:cNvSpPr txBox="1"/>
          <p:nvPr/>
        </p:nvSpPr>
        <p:spPr>
          <a:xfrm>
            <a:off x="2765513" y="33018"/>
            <a:ext cx="9121687" cy="9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9"/>
              </a:lnSpc>
              <a:spcBef>
                <a:spcPct val="0"/>
              </a:spcBef>
            </a:pPr>
            <a:r>
              <a:rPr lang="en-US" sz="40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TỔNG QUAN ĐỀ TÀI</a:t>
            </a: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BE8E90B1-C8F0-A1D7-AF9D-DA43DEEE4036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18218C8C-11DB-EB6E-9C01-D0C7FB141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9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D3A40-D946-E784-77B8-4D91794B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355153-67A7-B748-F09F-D1649771E29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A7507FC-876B-0D0D-3B7F-8176ACAA8D88}"/>
              </a:ext>
            </a:extLst>
          </p:cNvPr>
          <p:cNvSpPr/>
          <p:nvPr/>
        </p:nvSpPr>
        <p:spPr>
          <a:xfrm rot="9739814">
            <a:off x="-1445012" y="1665074"/>
            <a:ext cx="2890024" cy="2967932"/>
          </a:xfrm>
          <a:custGeom>
            <a:avLst/>
            <a:gdLst/>
            <a:ahLst/>
            <a:cxnLst/>
            <a:rect l="l" t="t" r="r" b="b"/>
            <a:pathLst>
              <a:path w="2890024" h="2967932">
                <a:moveTo>
                  <a:pt x="0" y="0"/>
                </a:moveTo>
                <a:lnTo>
                  <a:pt x="2890024" y="0"/>
                </a:lnTo>
                <a:lnTo>
                  <a:pt x="2890024" y="2967931"/>
                </a:lnTo>
                <a:lnTo>
                  <a:pt x="0" y="2967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4283EAC-CE60-A7D1-EDDC-3B2744B8571A}"/>
              </a:ext>
            </a:extLst>
          </p:cNvPr>
          <p:cNvSpPr/>
          <p:nvPr/>
        </p:nvSpPr>
        <p:spPr>
          <a:xfrm>
            <a:off x="-1396348" y="8680301"/>
            <a:ext cx="4214440" cy="3455841"/>
          </a:xfrm>
          <a:custGeom>
            <a:avLst/>
            <a:gdLst/>
            <a:ahLst/>
            <a:cxnLst/>
            <a:rect l="l" t="t" r="r" b="b"/>
            <a:pathLst>
              <a:path w="4214440" h="3455841">
                <a:moveTo>
                  <a:pt x="0" y="0"/>
                </a:moveTo>
                <a:lnTo>
                  <a:pt x="4214440" y="0"/>
                </a:lnTo>
                <a:lnTo>
                  <a:pt x="4214440" y="3455841"/>
                </a:lnTo>
                <a:lnTo>
                  <a:pt x="0" y="345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87D2E9B-982A-7F64-74AB-E79BFF12FDAB}"/>
              </a:ext>
            </a:extLst>
          </p:cNvPr>
          <p:cNvSpPr/>
          <p:nvPr/>
        </p:nvSpPr>
        <p:spPr>
          <a:xfrm>
            <a:off x="-50368" y="2360211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7"/>
                </a:lnTo>
                <a:lnTo>
                  <a:pt x="0" y="900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A36FD481-F6AB-BBCA-7824-BF0E885A8450}"/>
              </a:ext>
            </a:extLst>
          </p:cNvPr>
          <p:cNvSpPr txBox="1"/>
          <p:nvPr/>
        </p:nvSpPr>
        <p:spPr>
          <a:xfrm>
            <a:off x="1171191" y="2941314"/>
            <a:ext cx="15945617" cy="5232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/>
            <a:r>
              <a:rPr lang="vi-VN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- </a:t>
            </a:r>
            <a:r>
              <a:rPr lang="en-US" sz="34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Tên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các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cột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b="1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chưa</a:t>
            </a:r>
            <a:r>
              <a:rPr lang="en-US" sz="34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b="1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thống</a:t>
            </a:r>
            <a:r>
              <a:rPr lang="en-US" sz="34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b="1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nhất</a:t>
            </a:r>
            <a:r>
              <a:rPr lang="en-US" sz="34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b="1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ngôn</a:t>
            </a:r>
            <a:r>
              <a:rPr lang="en-US" sz="34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b="1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ngữ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, </a:t>
            </a:r>
            <a:r>
              <a:rPr lang="en-US" sz="34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gây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khó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khăn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cho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người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đọc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dữ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liệu</a:t>
            </a:r>
            <a:r>
              <a:rPr lang="en-US" sz="34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;</a:t>
            </a:r>
            <a:endParaRPr lang="vi-VN" sz="3400" spc="-40" dirty="0">
              <a:solidFill>
                <a:srgbClr val="1B1C54"/>
              </a:solidFill>
              <a:latin typeface="Bai Jamjuree" panose="020B0604020202020204" charset="-34"/>
              <a:cs typeface="Bai Jamjuree" panose="020B0604020202020204" charset="-34"/>
            </a:endParaRPr>
          </a:p>
          <a:p>
            <a:pPr lvl="0" algn="just"/>
            <a:endParaRPr lang="en-US" sz="3400" dirty="0">
              <a:solidFill>
                <a:srgbClr val="1B1C54"/>
              </a:solidFill>
              <a:latin typeface="Bai Jamjuree" panose="020B0604020202020204" charset="-34"/>
              <a:cs typeface="Bai Jamjuree" panose="020B0604020202020204" charset="-34"/>
            </a:endParaRPr>
          </a:p>
          <a:p>
            <a:pPr lvl="0" algn="just"/>
            <a:r>
              <a:rPr lang="vi-VN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-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Dữ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liệu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ở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một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số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cột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vẫn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còn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tồn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tại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nhiều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ký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tự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,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cụm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từ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hoặc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dữ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liệu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thừa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;</a:t>
            </a:r>
            <a:endParaRPr lang="vi-VN" sz="3400" dirty="0">
              <a:solidFill>
                <a:srgbClr val="1B1C54"/>
              </a:solidFill>
              <a:latin typeface="Bai Jamjuree" panose="020B0604020202020204" charset="-34"/>
              <a:cs typeface="Bai Jamjuree" panose="020B0604020202020204" charset="-34"/>
            </a:endParaRPr>
          </a:p>
          <a:p>
            <a:pPr lvl="0" algn="just"/>
            <a:endParaRPr lang="en-US" sz="3400" dirty="0">
              <a:solidFill>
                <a:srgbClr val="1B1C54"/>
              </a:solidFill>
              <a:latin typeface="Bai Jamjuree" panose="020B0604020202020204" charset="-34"/>
              <a:cs typeface="Bai Jamjuree" panose="020B0604020202020204" charset="-34"/>
            </a:endParaRPr>
          </a:p>
          <a:p>
            <a:pPr lvl="0" algn="just"/>
            <a:r>
              <a:rPr lang="vi-VN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-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Kiểu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dữ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liệu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ở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một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số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cột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không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phù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hợp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với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mục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tiêu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phân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tích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của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nhóm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,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có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thể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gây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ảnh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hưởng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trực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tiếp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đến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việc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dự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đoán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giá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sản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phẩm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.</a:t>
            </a:r>
            <a:endParaRPr lang="vi-VN" sz="3400" dirty="0">
              <a:solidFill>
                <a:srgbClr val="1B1C54"/>
              </a:solidFill>
              <a:latin typeface="Bai Jamjuree" panose="020B0604020202020204" charset="-34"/>
              <a:cs typeface="Bai Jamjuree" panose="020B0604020202020204" charset="-34"/>
            </a:endParaRPr>
          </a:p>
          <a:p>
            <a:pPr lvl="0" algn="just"/>
            <a:endParaRPr lang="en-US" sz="3400" dirty="0">
              <a:solidFill>
                <a:srgbClr val="1B1C54"/>
              </a:solidFill>
              <a:latin typeface="Bai Jamjuree" panose="020B0604020202020204" charset="-34"/>
              <a:cs typeface="Bai Jamjuree" panose="020B0604020202020204" charset="-34"/>
            </a:endParaRPr>
          </a:p>
          <a:p>
            <a:pPr lvl="0" algn="just"/>
            <a:r>
              <a:rPr lang="vi-VN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-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Tồn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tại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một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số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dữ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liệu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bị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khuyết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;</a:t>
            </a:r>
            <a:endParaRPr lang="vi-VN" sz="3400" dirty="0">
              <a:solidFill>
                <a:srgbClr val="1B1C54"/>
              </a:solidFill>
              <a:latin typeface="Bai Jamjuree" panose="020B0604020202020204" charset="-34"/>
              <a:cs typeface="Bai Jamjuree" panose="020B0604020202020204" charset="-34"/>
            </a:endParaRPr>
          </a:p>
          <a:p>
            <a:pPr lvl="0" algn="just"/>
            <a:endParaRPr lang="en-US" sz="3400" dirty="0">
              <a:solidFill>
                <a:srgbClr val="1B1C54"/>
              </a:solidFill>
              <a:latin typeface="Bai Jamjuree" panose="020B0604020202020204" charset="-34"/>
              <a:cs typeface="Bai Jamjuree" panose="020B0604020202020204" charset="-34"/>
            </a:endParaRPr>
          </a:p>
          <a:p>
            <a:pPr lvl="0" algn="just"/>
            <a:r>
              <a:rPr lang="vi-VN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-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Tồn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tại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một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số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cột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không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ảnh</a:t>
            </a:r>
            <a:r>
              <a:rPr lang="en-US" sz="340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hưởng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đến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mục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tiêu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phân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tích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của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40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nhóm</a:t>
            </a:r>
            <a:r>
              <a:rPr lang="en-US" sz="340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.</a:t>
            </a:r>
          </a:p>
        </p:txBody>
      </p:sp>
      <p:pic>
        <p:nvPicPr>
          <p:cNvPr id="12" name="Picture 1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4C1C4FC2-D389-2DBC-59A9-D819E3632C08}"/>
              </a:ext>
            </a:extLst>
          </p:cNvPr>
          <p:cNvPicPr/>
          <p:nvPr/>
        </p:nvPicPr>
        <p:blipFill>
          <a:blip r:embed="rId7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411BF6-CE67-151B-68ED-351EF1304C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11" name="Freeform 8">
            <a:extLst>
              <a:ext uri="{FF2B5EF4-FFF2-40B4-BE49-F238E27FC236}">
                <a16:creationId xmlns:a16="http://schemas.microsoft.com/office/drawing/2014/main" id="{137AB50A-35DA-9F3E-FCDB-1D12A3278926}"/>
              </a:ext>
            </a:extLst>
          </p:cNvPr>
          <p:cNvSpPr/>
          <p:nvPr/>
        </p:nvSpPr>
        <p:spPr>
          <a:xfrm flipH="1">
            <a:off x="-1906192" y="-605688"/>
            <a:ext cx="5156756" cy="2012695"/>
          </a:xfrm>
          <a:custGeom>
            <a:avLst/>
            <a:gdLst/>
            <a:ahLst/>
            <a:cxnLst/>
            <a:rect l="l" t="t" r="r" b="b"/>
            <a:pathLst>
              <a:path w="5156756" h="2462351">
                <a:moveTo>
                  <a:pt x="5156756" y="0"/>
                </a:moveTo>
                <a:lnTo>
                  <a:pt x="0" y="0"/>
                </a:lnTo>
                <a:lnTo>
                  <a:pt x="0" y="2462351"/>
                </a:lnTo>
                <a:lnTo>
                  <a:pt x="5156756" y="2462351"/>
                </a:lnTo>
                <a:lnTo>
                  <a:pt x="515675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b="-2234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34ED5DD1-0613-C842-E35A-EEEC51DD1205}"/>
              </a:ext>
            </a:extLst>
          </p:cNvPr>
          <p:cNvSpPr txBox="1"/>
          <p:nvPr/>
        </p:nvSpPr>
        <p:spPr>
          <a:xfrm>
            <a:off x="193467" y="84855"/>
            <a:ext cx="103481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67"/>
              </a:lnSpc>
              <a:spcBef>
                <a:spcPct val="0"/>
              </a:spcBef>
            </a:pPr>
            <a:r>
              <a:rPr lang="en-US" sz="7048" dirty="0">
                <a:solidFill>
                  <a:srgbClr val="FFFFFF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I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9E7A8BFC-322D-0CB3-809A-B73829CD0194}"/>
              </a:ext>
            </a:extLst>
          </p:cNvPr>
          <p:cNvSpPr txBox="1"/>
          <p:nvPr/>
        </p:nvSpPr>
        <p:spPr>
          <a:xfrm>
            <a:off x="2765513" y="33018"/>
            <a:ext cx="9121687" cy="9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9"/>
              </a:lnSpc>
              <a:spcBef>
                <a:spcPct val="0"/>
              </a:spcBef>
            </a:pPr>
            <a:r>
              <a:rPr lang="en-US" sz="40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TỔNG QUAN ĐỀ TÀI</a:t>
            </a: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792CAE17-F455-726D-F4F4-510801FE5C9A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78DE1E43-905D-C056-8D49-45077DB3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10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849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6C31-6C4E-FD46-6179-62032B11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11ECF9-1604-19F6-B2A0-0ED07592B56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5011713-E1DE-2BE9-B618-ACD3C73A0552}"/>
              </a:ext>
            </a:extLst>
          </p:cNvPr>
          <p:cNvSpPr/>
          <p:nvPr/>
        </p:nvSpPr>
        <p:spPr>
          <a:xfrm rot="9739814">
            <a:off x="-1445012" y="1665074"/>
            <a:ext cx="2890024" cy="2967932"/>
          </a:xfrm>
          <a:custGeom>
            <a:avLst/>
            <a:gdLst/>
            <a:ahLst/>
            <a:cxnLst/>
            <a:rect l="l" t="t" r="r" b="b"/>
            <a:pathLst>
              <a:path w="2890024" h="2967932">
                <a:moveTo>
                  <a:pt x="0" y="0"/>
                </a:moveTo>
                <a:lnTo>
                  <a:pt x="2890024" y="0"/>
                </a:lnTo>
                <a:lnTo>
                  <a:pt x="2890024" y="2967931"/>
                </a:lnTo>
                <a:lnTo>
                  <a:pt x="0" y="2967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7F6ABDA-942F-CB26-99B2-1885E41D4F26}"/>
              </a:ext>
            </a:extLst>
          </p:cNvPr>
          <p:cNvSpPr/>
          <p:nvPr/>
        </p:nvSpPr>
        <p:spPr>
          <a:xfrm>
            <a:off x="-1396348" y="8680301"/>
            <a:ext cx="4214440" cy="3455841"/>
          </a:xfrm>
          <a:custGeom>
            <a:avLst/>
            <a:gdLst/>
            <a:ahLst/>
            <a:cxnLst/>
            <a:rect l="l" t="t" r="r" b="b"/>
            <a:pathLst>
              <a:path w="4214440" h="3455841">
                <a:moveTo>
                  <a:pt x="0" y="0"/>
                </a:moveTo>
                <a:lnTo>
                  <a:pt x="4214440" y="0"/>
                </a:lnTo>
                <a:lnTo>
                  <a:pt x="4214440" y="3455841"/>
                </a:lnTo>
                <a:lnTo>
                  <a:pt x="0" y="345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AAEC382-4E9B-7B20-B37D-DC6E51BB33C9}"/>
              </a:ext>
            </a:extLst>
          </p:cNvPr>
          <p:cNvSpPr/>
          <p:nvPr/>
        </p:nvSpPr>
        <p:spPr>
          <a:xfrm>
            <a:off x="-50368" y="2360211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7"/>
                </a:lnTo>
                <a:lnTo>
                  <a:pt x="0" y="900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EC42DCC-6A12-70CD-99A5-6E7A415C332C}"/>
              </a:ext>
            </a:extLst>
          </p:cNvPr>
          <p:cNvSpPr txBox="1"/>
          <p:nvPr/>
        </p:nvSpPr>
        <p:spPr>
          <a:xfrm>
            <a:off x="838200" y="8194773"/>
            <a:ext cx="820140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vi-VN" sz="32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Biểu đồ </a:t>
            </a:r>
            <a:r>
              <a:rPr lang="vi-VN" sz="3200" b="1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heatmap</a:t>
            </a:r>
            <a:r>
              <a:rPr lang="vi-VN" sz="32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mô tả mức độ tương quan giữa các biến số với biến giá.</a:t>
            </a:r>
            <a:endParaRPr lang="en-US" sz="3200" b="1" dirty="0">
              <a:solidFill>
                <a:srgbClr val="1B1C54"/>
              </a:solidFill>
              <a:latin typeface="Bai Jamjuree Bold" panose="020B0604020202020204" charset="-34"/>
              <a:cs typeface="Bai Jamjuree Bold" panose="020B0604020202020204" charset="-34"/>
            </a:endParaRPr>
          </a:p>
        </p:txBody>
      </p:sp>
      <p:pic>
        <p:nvPicPr>
          <p:cNvPr id="11" name="Hình ảnh 1" descr="Ảnh có chứa văn bản, ảnh chụp màn hình, số, Phông chữ&#10;&#10;Nội dung do AI tạo ra có thể không chính xác.">
            <a:extLst>
              <a:ext uri="{FF2B5EF4-FFF2-40B4-BE49-F238E27FC236}">
                <a16:creationId xmlns:a16="http://schemas.microsoft.com/office/drawing/2014/main" id="{8502B02D-0A8F-0F90-64D1-64A9B1E597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277" y="2114275"/>
            <a:ext cx="7661257" cy="59672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099B1B-BE66-4304-374B-B52CA5D2D8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3675" y="2661209"/>
            <a:ext cx="7706125" cy="4680784"/>
          </a:xfrm>
          <a:prstGeom prst="rect">
            <a:avLst/>
          </a:prstGeom>
        </p:spPr>
      </p:pic>
      <p:sp>
        <p:nvSpPr>
          <p:cNvPr id="17" name="TextBox 11">
            <a:extLst>
              <a:ext uri="{FF2B5EF4-FFF2-40B4-BE49-F238E27FC236}">
                <a16:creationId xmlns:a16="http://schemas.microsoft.com/office/drawing/2014/main" id="{44D58FC8-80A9-B78C-7C94-C4DE40D5AC27}"/>
              </a:ext>
            </a:extLst>
          </p:cNvPr>
          <p:cNvSpPr txBox="1"/>
          <p:nvPr/>
        </p:nvSpPr>
        <p:spPr>
          <a:xfrm>
            <a:off x="9306032" y="7802964"/>
            <a:ext cx="820140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vi-VN" sz="32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Các biến phân loại có ảnh hưởng đáng kể đến giá sản phẩm sau khi thực hiện phân tích ANOVA</a:t>
            </a:r>
            <a:endParaRPr lang="en-US" sz="3200" b="1" dirty="0">
              <a:solidFill>
                <a:srgbClr val="1B1C54"/>
              </a:solidFill>
              <a:latin typeface="Bai Jamjuree Bold" panose="020B0604020202020204" charset="-34"/>
              <a:cs typeface="Bai Jamjuree Bold" panose="020B0604020202020204" charset="-34"/>
            </a:endParaRPr>
          </a:p>
        </p:txBody>
      </p:sp>
      <p:pic>
        <p:nvPicPr>
          <p:cNvPr id="12" name="Picture 1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AEB5CBA1-B241-F341-708F-AC815062AD9A}"/>
              </a:ext>
            </a:extLst>
          </p:cNvPr>
          <p:cNvPicPr/>
          <p:nvPr/>
        </p:nvPicPr>
        <p:blipFill>
          <a:blip r:embed="rId9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EBFD8C-6C28-C885-DC96-A786FB02DA2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13" name="Freeform 8">
            <a:extLst>
              <a:ext uri="{FF2B5EF4-FFF2-40B4-BE49-F238E27FC236}">
                <a16:creationId xmlns:a16="http://schemas.microsoft.com/office/drawing/2014/main" id="{8D2CB747-2ED0-D989-313A-B3543194A0B1}"/>
              </a:ext>
            </a:extLst>
          </p:cNvPr>
          <p:cNvSpPr/>
          <p:nvPr/>
        </p:nvSpPr>
        <p:spPr>
          <a:xfrm flipH="1">
            <a:off x="-1906192" y="-605688"/>
            <a:ext cx="5156756" cy="2012695"/>
          </a:xfrm>
          <a:custGeom>
            <a:avLst/>
            <a:gdLst/>
            <a:ahLst/>
            <a:cxnLst/>
            <a:rect l="l" t="t" r="r" b="b"/>
            <a:pathLst>
              <a:path w="5156756" h="2462351">
                <a:moveTo>
                  <a:pt x="5156756" y="0"/>
                </a:moveTo>
                <a:lnTo>
                  <a:pt x="0" y="0"/>
                </a:lnTo>
                <a:lnTo>
                  <a:pt x="0" y="2462351"/>
                </a:lnTo>
                <a:lnTo>
                  <a:pt x="5156756" y="2462351"/>
                </a:lnTo>
                <a:lnTo>
                  <a:pt x="515675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b="-2234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FE4E8023-55CB-490D-30AA-B56F2012CFCB}"/>
              </a:ext>
            </a:extLst>
          </p:cNvPr>
          <p:cNvSpPr txBox="1"/>
          <p:nvPr/>
        </p:nvSpPr>
        <p:spPr>
          <a:xfrm>
            <a:off x="193467" y="84855"/>
            <a:ext cx="103481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67"/>
              </a:lnSpc>
              <a:spcBef>
                <a:spcPct val="0"/>
              </a:spcBef>
            </a:pPr>
            <a:r>
              <a:rPr lang="en-US" sz="7048" dirty="0">
                <a:solidFill>
                  <a:srgbClr val="FFFFFF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I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7A8225ED-261B-408F-C49A-DF38E751EE18}"/>
              </a:ext>
            </a:extLst>
          </p:cNvPr>
          <p:cNvSpPr txBox="1"/>
          <p:nvPr/>
        </p:nvSpPr>
        <p:spPr>
          <a:xfrm>
            <a:off x="2765513" y="33018"/>
            <a:ext cx="9121687" cy="9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9"/>
              </a:lnSpc>
              <a:spcBef>
                <a:spcPct val="0"/>
              </a:spcBef>
            </a:pPr>
            <a:r>
              <a:rPr lang="en-US" sz="40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TỔNG QUAN ĐỀ TÀI</a:t>
            </a: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35F36F94-A7AE-11BA-74E1-33667AB375A8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53A4F6BB-4472-D4F1-2941-05740A46E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11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9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54FE8-8333-3ABE-E195-669EF462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686EA9-02C8-3F13-2F6C-E5EB6DD012B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F1AE499-51C8-0609-0D85-DCA62EAB6A5E}"/>
              </a:ext>
            </a:extLst>
          </p:cNvPr>
          <p:cNvSpPr/>
          <p:nvPr/>
        </p:nvSpPr>
        <p:spPr>
          <a:xfrm rot="9739814">
            <a:off x="-1445012" y="1665074"/>
            <a:ext cx="2890024" cy="2967932"/>
          </a:xfrm>
          <a:custGeom>
            <a:avLst/>
            <a:gdLst/>
            <a:ahLst/>
            <a:cxnLst/>
            <a:rect l="l" t="t" r="r" b="b"/>
            <a:pathLst>
              <a:path w="2890024" h="2967932">
                <a:moveTo>
                  <a:pt x="0" y="0"/>
                </a:moveTo>
                <a:lnTo>
                  <a:pt x="2890024" y="0"/>
                </a:lnTo>
                <a:lnTo>
                  <a:pt x="2890024" y="2967931"/>
                </a:lnTo>
                <a:lnTo>
                  <a:pt x="0" y="2967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A9EBD60-A762-F334-69C7-AF728DA78770}"/>
              </a:ext>
            </a:extLst>
          </p:cNvPr>
          <p:cNvSpPr/>
          <p:nvPr/>
        </p:nvSpPr>
        <p:spPr>
          <a:xfrm>
            <a:off x="-1396348" y="8680301"/>
            <a:ext cx="4214440" cy="3455841"/>
          </a:xfrm>
          <a:custGeom>
            <a:avLst/>
            <a:gdLst/>
            <a:ahLst/>
            <a:cxnLst/>
            <a:rect l="l" t="t" r="r" b="b"/>
            <a:pathLst>
              <a:path w="4214440" h="3455841">
                <a:moveTo>
                  <a:pt x="0" y="0"/>
                </a:moveTo>
                <a:lnTo>
                  <a:pt x="4214440" y="0"/>
                </a:lnTo>
                <a:lnTo>
                  <a:pt x="4214440" y="3455841"/>
                </a:lnTo>
                <a:lnTo>
                  <a:pt x="0" y="345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35B1AE4-290A-4F0B-11A6-9D00FB90C790}"/>
              </a:ext>
            </a:extLst>
          </p:cNvPr>
          <p:cNvSpPr/>
          <p:nvPr/>
        </p:nvSpPr>
        <p:spPr>
          <a:xfrm>
            <a:off x="-50368" y="2360211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7"/>
                </a:lnTo>
                <a:lnTo>
                  <a:pt x="0" y="900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3" name="Hình ảnh 5" descr="Ảnh có chứa văn bản, ảnh chụp màn hình, biểu đồ, Sơ đồ&#10;&#10;Nội dung do AI tạo ra có thể không chính xác.">
            <a:extLst>
              <a:ext uri="{FF2B5EF4-FFF2-40B4-BE49-F238E27FC236}">
                <a16:creationId xmlns:a16="http://schemas.microsoft.com/office/drawing/2014/main" id="{4480FBD5-F6DC-78BA-9B99-D10E1A8FD0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833" y="1866900"/>
            <a:ext cx="15330334" cy="749111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28FA5830-BE28-8BF0-9464-AD72EA58986A}"/>
              </a:ext>
            </a:extLst>
          </p:cNvPr>
          <p:cNvSpPr txBox="1"/>
          <p:nvPr/>
        </p:nvSpPr>
        <p:spPr>
          <a:xfrm>
            <a:off x="5043296" y="9334500"/>
            <a:ext cx="820140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vi-VN" sz="3600" b="1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Dashboard</a:t>
            </a:r>
            <a:r>
              <a:rPr lang="vi-VN" sz="36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trực quan </a:t>
            </a:r>
            <a:r>
              <a:rPr lang="vi-VN" sz="3600" b="1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hoá</a:t>
            </a:r>
            <a:r>
              <a:rPr lang="vi-VN" sz="3600" b="1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dữ liệu</a:t>
            </a:r>
            <a:endParaRPr lang="en-US" sz="3600" b="1" dirty="0">
              <a:solidFill>
                <a:srgbClr val="1B1C54"/>
              </a:solidFill>
              <a:latin typeface="Bai Jamjuree Bold" panose="020B0604020202020204" charset="-34"/>
              <a:cs typeface="Bai Jamjuree Bold" panose="020B0604020202020204" charset="-34"/>
            </a:endParaRPr>
          </a:p>
        </p:txBody>
      </p:sp>
      <p:pic>
        <p:nvPicPr>
          <p:cNvPr id="11" name="Picture 10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CDE57FFD-5B6D-3860-217E-31E7BA1CB620}"/>
              </a:ext>
            </a:extLst>
          </p:cNvPr>
          <p:cNvPicPr/>
          <p:nvPr/>
        </p:nvPicPr>
        <p:blipFill>
          <a:blip r:embed="rId8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1ABAB5-E94A-4320-A32A-7B5C4AD9633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16" name="Freeform 8">
            <a:extLst>
              <a:ext uri="{FF2B5EF4-FFF2-40B4-BE49-F238E27FC236}">
                <a16:creationId xmlns:a16="http://schemas.microsoft.com/office/drawing/2014/main" id="{B8312464-96CD-1B5D-DFF7-E6DA84B7A30D}"/>
              </a:ext>
            </a:extLst>
          </p:cNvPr>
          <p:cNvSpPr/>
          <p:nvPr/>
        </p:nvSpPr>
        <p:spPr>
          <a:xfrm flipH="1">
            <a:off x="-1906192" y="-605688"/>
            <a:ext cx="5156756" cy="2012695"/>
          </a:xfrm>
          <a:custGeom>
            <a:avLst/>
            <a:gdLst/>
            <a:ahLst/>
            <a:cxnLst/>
            <a:rect l="l" t="t" r="r" b="b"/>
            <a:pathLst>
              <a:path w="5156756" h="2462351">
                <a:moveTo>
                  <a:pt x="5156756" y="0"/>
                </a:moveTo>
                <a:lnTo>
                  <a:pt x="0" y="0"/>
                </a:lnTo>
                <a:lnTo>
                  <a:pt x="0" y="2462351"/>
                </a:lnTo>
                <a:lnTo>
                  <a:pt x="5156756" y="2462351"/>
                </a:lnTo>
                <a:lnTo>
                  <a:pt x="515675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2234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D913302E-D249-BFA4-EA85-1762CD103739}"/>
              </a:ext>
            </a:extLst>
          </p:cNvPr>
          <p:cNvSpPr txBox="1"/>
          <p:nvPr/>
        </p:nvSpPr>
        <p:spPr>
          <a:xfrm>
            <a:off x="193467" y="84855"/>
            <a:ext cx="103481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67"/>
              </a:lnSpc>
              <a:spcBef>
                <a:spcPct val="0"/>
              </a:spcBef>
            </a:pPr>
            <a:r>
              <a:rPr lang="en-US" sz="7048" dirty="0">
                <a:solidFill>
                  <a:srgbClr val="FFFFFF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I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5D353F76-67E2-734D-C109-C4AA55C1115D}"/>
              </a:ext>
            </a:extLst>
          </p:cNvPr>
          <p:cNvSpPr txBox="1"/>
          <p:nvPr/>
        </p:nvSpPr>
        <p:spPr>
          <a:xfrm>
            <a:off x="2765513" y="33018"/>
            <a:ext cx="9121687" cy="9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9"/>
              </a:lnSpc>
              <a:spcBef>
                <a:spcPct val="0"/>
              </a:spcBef>
            </a:pPr>
            <a:r>
              <a:rPr lang="en-US" sz="40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TỔNG QUAN ĐỀ TÀI</a:t>
            </a: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C210E2BD-A1D7-3EDD-23BA-0BB87214A891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1633C6BB-9147-5B4D-9986-DCFE9160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12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37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9739814">
            <a:off x="-1445012" y="1665074"/>
            <a:ext cx="2890024" cy="2967932"/>
          </a:xfrm>
          <a:custGeom>
            <a:avLst/>
            <a:gdLst/>
            <a:ahLst/>
            <a:cxnLst/>
            <a:rect l="l" t="t" r="r" b="b"/>
            <a:pathLst>
              <a:path w="2890024" h="2967932">
                <a:moveTo>
                  <a:pt x="0" y="0"/>
                </a:moveTo>
                <a:lnTo>
                  <a:pt x="2890024" y="0"/>
                </a:lnTo>
                <a:lnTo>
                  <a:pt x="2890024" y="2967931"/>
                </a:lnTo>
                <a:lnTo>
                  <a:pt x="0" y="2967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396348" y="8680301"/>
            <a:ext cx="4214440" cy="3455841"/>
          </a:xfrm>
          <a:custGeom>
            <a:avLst/>
            <a:gdLst/>
            <a:ahLst/>
            <a:cxnLst/>
            <a:rect l="l" t="t" r="r" b="b"/>
            <a:pathLst>
              <a:path w="4214440" h="3455841">
                <a:moveTo>
                  <a:pt x="0" y="0"/>
                </a:moveTo>
                <a:lnTo>
                  <a:pt x="4214440" y="0"/>
                </a:lnTo>
                <a:lnTo>
                  <a:pt x="4214440" y="3455841"/>
                </a:lnTo>
                <a:lnTo>
                  <a:pt x="0" y="345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50368" y="2360211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7"/>
                </a:lnTo>
                <a:lnTo>
                  <a:pt x="0" y="900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4" name="Hình ảnh 5" descr="Ảnh có chứa văn bản, ảnh chụp màn hình, biểu đồ, Sơ đồ&#10;&#10;Nội dung do AI tạo ra có thể không chính xác.">
            <a:extLst>
              <a:ext uri="{FF2B5EF4-FFF2-40B4-BE49-F238E27FC236}">
                <a16:creationId xmlns:a16="http://schemas.microsoft.com/office/drawing/2014/main" id="{A7FE342F-D82B-CF87-25ED-B578C0964C5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r="65409" b="56123"/>
          <a:stretch>
            <a:fillRect/>
          </a:stretch>
        </p:blipFill>
        <p:spPr bwMode="auto">
          <a:xfrm>
            <a:off x="4970267" y="2247900"/>
            <a:ext cx="8347465" cy="553770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1">
            <a:extLst>
              <a:ext uri="{FF2B5EF4-FFF2-40B4-BE49-F238E27FC236}">
                <a16:creationId xmlns:a16="http://schemas.microsoft.com/office/drawing/2014/main" id="{63469886-EFFF-3AFF-C7E6-310468678308}"/>
              </a:ext>
            </a:extLst>
          </p:cNvPr>
          <p:cNvSpPr txBox="1"/>
          <p:nvPr/>
        </p:nvSpPr>
        <p:spPr>
          <a:xfrm>
            <a:off x="2557283" y="7976248"/>
            <a:ext cx="1317343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Bộ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dữ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liệu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cần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được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huấn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luyện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bằng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mô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hình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phi </a:t>
            </a:r>
            <a:r>
              <a:rPr lang="en-US" sz="3600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tuyến</a:t>
            </a:r>
            <a:r>
              <a:rPr lang="en-US" sz="3600" spc="-40" dirty="0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 Bold" panose="020B0604020202020204" charset="-34"/>
                <a:cs typeface="Bai Jamjuree Bold" panose="020B0604020202020204" charset="-34"/>
              </a:rPr>
              <a:t>tính</a:t>
            </a:r>
            <a:endParaRPr lang="en-US" sz="3600" dirty="0">
              <a:solidFill>
                <a:srgbClr val="1B1C54"/>
              </a:solidFill>
              <a:latin typeface="Bai Jamjuree Bold" panose="020B0604020202020204" charset="-34"/>
              <a:cs typeface="Bai Jamjuree Bold" panose="020B0604020202020204" charset="-34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96966F95-4917-05AB-7D68-471BC480312B}"/>
              </a:ext>
            </a:extLst>
          </p:cNvPr>
          <p:cNvSpPr txBox="1"/>
          <p:nvPr/>
        </p:nvSpPr>
        <p:spPr>
          <a:xfrm>
            <a:off x="5407526" y="8704302"/>
            <a:ext cx="747294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US" sz="3600" spc="-40" dirty="0">
                <a:solidFill>
                  <a:srgbClr val="FF0000"/>
                </a:solidFill>
                <a:latin typeface="Bai Jamjuree Bold" panose="020B0604020202020204" charset="-34"/>
                <a:cs typeface="Bai Jamjuree Bold" panose="020B0604020202020204" charset="-34"/>
              </a:rPr>
              <a:t>RANDOM FOREST REGRESSION</a:t>
            </a:r>
            <a:endParaRPr lang="en-US" sz="3600" dirty="0">
              <a:solidFill>
                <a:srgbClr val="FF0000"/>
              </a:solidFill>
              <a:latin typeface="Bai Jamjuree Bold" panose="020B0604020202020204" charset="-34"/>
              <a:cs typeface="Bai Jamjuree Bold" panose="020B0604020202020204" charset="-34"/>
            </a:endParaRPr>
          </a:p>
        </p:txBody>
      </p:sp>
      <p:pic>
        <p:nvPicPr>
          <p:cNvPr id="12" name="Picture 1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029499B8-6402-7ACF-75B6-C813191062B3}"/>
              </a:ext>
            </a:extLst>
          </p:cNvPr>
          <p:cNvPicPr/>
          <p:nvPr/>
        </p:nvPicPr>
        <p:blipFill>
          <a:blip r:embed="rId8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64D234-AE3F-36B7-4BB5-DEC8815DBF6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11" name="Freeform 8">
            <a:extLst>
              <a:ext uri="{FF2B5EF4-FFF2-40B4-BE49-F238E27FC236}">
                <a16:creationId xmlns:a16="http://schemas.microsoft.com/office/drawing/2014/main" id="{B66C2624-304A-4740-3289-E593A3A350F7}"/>
              </a:ext>
            </a:extLst>
          </p:cNvPr>
          <p:cNvSpPr/>
          <p:nvPr/>
        </p:nvSpPr>
        <p:spPr>
          <a:xfrm flipH="1">
            <a:off x="-1906192" y="-605688"/>
            <a:ext cx="5156756" cy="2012695"/>
          </a:xfrm>
          <a:custGeom>
            <a:avLst/>
            <a:gdLst/>
            <a:ahLst/>
            <a:cxnLst/>
            <a:rect l="l" t="t" r="r" b="b"/>
            <a:pathLst>
              <a:path w="5156756" h="2462351">
                <a:moveTo>
                  <a:pt x="5156756" y="0"/>
                </a:moveTo>
                <a:lnTo>
                  <a:pt x="0" y="0"/>
                </a:lnTo>
                <a:lnTo>
                  <a:pt x="0" y="2462351"/>
                </a:lnTo>
                <a:lnTo>
                  <a:pt x="5156756" y="2462351"/>
                </a:lnTo>
                <a:lnTo>
                  <a:pt x="515675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2234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219234E7-BFC8-9AA4-2CEC-39237C240172}"/>
              </a:ext>
            </a:extLst>
          </p:cNvPr>
          <p:cNvSpPr txBox="1"/>
          <p:nvPr/>
        </p:nvSpPr>
        <p:spPr>
          <a:xfrm>
            <a:off x="193467" y="84855"/>
            <a:ext cx="103481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67"/>
              </a:lnSpc>
              <a:spcBef>
                <a:spcPct val="0"/>
              </a:spcBef>
            </a:pPr>
            <a:r>
              <a:rPr lang="en-US" sz="7048" dirty="0">
                <a:solidFill>
                  <a:srgbClr val="FFFFFF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I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C842DAFF-9BB3-FC44-B45F-57CC10031C86}"/>
              </a:ext>
            </a:extLst>
          </p:cNvPr>
          <p:cNvSpPr txBox="1"/>
          <p:nvPr/>
        </p:nvSpPr>
        <p:spPr>
          <a:xfrm>
            <a:off x="2765513" y="33018"/>
            <a:ext cx="9121687" cy="9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9"/>
              </a:lnSpc>
              <a:spcBef>
                <a:spcPct val="0"/>
              </a:spcBef>
            </a:pPr>
            <a:r>
              <a:rPr lang="en-US" sz="40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TỔNG QUAN ĐỀ TÀI</a:t>
            </a: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605DFE88-1D26-E961-7D54-FDE1DD485B16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AE771A2C-ED3D-B9FE-C2CE-09E2E676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13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FB43-AF83-914E-5772-3790C0CE0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">
            <a:extLst>
              <a:ext uri="{FF2B5EF4-FFF2-40B4-BE49-F238E27FC236}">
                <a16:creationId xmlns:a16="http://schemas.microsoft.com/office/drawing/2014/main" id="{24D57D10-F148-4658-B85F-9859A922BD2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735" b="-497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15EF44C-47BA-FFF4-2069-A257D08B35B0}"/>
              </a:ext>
            </a:extLst>
          </p:cNvPr>
          <p:cNvSpPr/>
          <p:nvPr/>
        </p:nvSpPr>
        <p:spPr>
          <a:xfrm>
            <a:off x="-1587332" y="8680799"/>
            <a:ext cx="4335636" cy="3902073"/>
          </a:xfrm>
          <a:custGeom>
            <a:avLst/>
            <a:gdLst/>
            <a:ahLst/>
            <a:cxnLst/>
            <a:rect l="l" t="t" r="r" b="b"/>
            <a:pathLst>
              <a:path w="4335636" h="3902073">
                <a:moveTo>
                  <a:pt x="0" y="0"/>
                </a:moveTo>
                <a:lnTo>
                  <a:pt x="4335636" y="0"/>
                </a:lnTo>
                <a:lnTo>
                  <a:pt x="4335636" y="3902072"/>
                </a:lnTo>
                <a:lnTo>
                  <a:pt x="0" y="3902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E502A54-B418-73BE-C18F-C5B4CEA7D72D}"/>
              </a:ext>
            </a:extLst>
          </p:cNvPr>
          <p:cNvSpPr/>
          <p:nvPr/>
        </p:nvSpPr>
        <p:spPr>
          <a:xfrm rot="5400000">
            <a:off x="10374777" y="-1821931"/>
            <a:ext cx="3841260" cy="3029794"/>
          </a:xfrm>
          <a:custGeom>
            <a:avLst/>
            <a:gdLst/>
            <a:ahLst/>
            <a:cxnLst/>
            <a:rect l="l" t="t" r="r" b="b"/>
            <a:pathLst>
              <a:path w="3841260" h="3029794">
                <a:moveTo>
                  <a:pt x="0" y="0"/>
                </a:moveTo>
                <a:lnTo>
                  <a:pt x="3841260" y="0"/>
                </a:lnTo>
                <a:lnTo>
                  <a:pt x="3841260" y="3029794"/>
                </a:lnTo>
                <a:lnTo>
                  <a:pt x="0" y="3029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2" name="Picture 4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B8F0C640-947D-E121-7DC3-CEC9D80A38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707F342-3DE2-DC2A-5BA0-01A090F6DDD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36" name="TextBox 9">
            <a:extLst>
              <a:ext uri="{FF2B5EF4-FFF2-40B4-BE49-F238E27FC236}">
                <a16:creationId xmlns:a16="http://schemas.microsoft.com/office/drawing/2014/main" id="{22174C3A-34AE-9F48-419E-DAEC9906DBEE}"/>
              </a:ext>
            </a:extLst>
          </p:cNvPr>
          <p:cNvSpPr txBox="1"/>
          <p:nvPr/>
        </p:nvSpPr>
        <p:spPr>
          <a:xfrm>
            <a:off x="1981200" y="5248134"/>
            <a:ext cx="6245505" cy="218136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1" algn="ctr">
              <a:lnSpc>
                <a:spcPts val="11200"/>
              </a:lnSpc>
            </a:pPr>
            <a:r>
              <a:rPr lang="en-US" sz="28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IV.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82337CAA-5E35-4FF9-6E69-C45A43E8656E}"/>
              </a:ext>
            </a:extLst>
          </p:cNvPr>
          <p:cNvSpPr txBox="1"/>
          <p:nvPr/>
        </p:nvSpPr>
        <p:spPr>
          <a:xfrm>
            <a:off x="8074305" y="3728978"/>
            <a:ext cx="8098199" cy="286232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1">
              <a:spcAft>
                <a:spcPts val="1200"/>
              </a:spcAft>
            </a:pPr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KẾT QUẢ</a:t>
            </a:r>
          </a:p>
          <a:p>
            <a:pPr lvl="1">
              <a:spcAft>
                <a:spcPts val="1200"/>
              </a:spcAft>
            </a:pPr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ĐÁNH GIÁ</a:t>
            </a: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2C285BE7-EB31-FDB2-29AD-A0025EECAF2D}"/>
              </a:ext>
            </a:extLst>
          </p:cNvPr>
          <p:cNvSpPr/>
          <p:nvPr/>
        </p:nvSpPr>
        <p:spPr>
          <a:xfrm>
            <a:off x="0" y="-434848"/>
            <a:ext cx="4773662" cy="1783466"/>
          </a:xfrm>
          <a:custGeom>
            <a:avLst/>
            <a:gdLst/>
            <a:ahLst/>
            <a:cxnLst/>
            <a:rect l="l" t="t" r="r" b="b"/>
            <a:pathLst>
              <a:path w="4773662" h="1783466">
                <a:moveTo>
                  <a:pt x="0" y="0"/>
                </a:moveTo>
                <a:lnTo>
                  <a:pt x="4773662" y="0"/>
                </a:lnTo>
                <a:lnTo>
                  <a:pt x="4773662" y="1783466"/>
                </a:lnTo>
                <a:lnTo>
                  <a:pt x="0" y="1783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84033" b="-8362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C5B3648B-0184-B7CE-949C-CEBBE22310F6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7F9FAA6-E032-FDC7-9C0F-3F47F3F4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14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63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3077-C568-19A4-42D3-6499C3DE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622CF7-2A59-9638-6933-596EDD7A9AF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A5F8B7C-4D3F-CE48-B898-B798E710FA4B}"/>
              </a:ext>
            </a:extLst>
          </p:cNvPr>
          <p:cNvSpPr/>
          <p:nvPr/>
        </p:nvSpPr>
        <p:spPr>
          <a:xfrm rot="9739814">
            <a:off x="-1445012" y="1665074"/>
            <a:ext cx="2890024" cy="2967932"/>
          </a:xfrm>
          <a:custGeom>
            <a:avLst/>
            <a:gdLst/>
            <a:ahLst/>
            <a:cxnLst/>
            <a:rect l="l" t="t" r="r" b="b"/>
            <a:pathLst>
              <a:path w="2890024" h="2967932">
                <a:moveTo>
                  <a:pt x="0" y="0"/>
                </a:moveTo>
                <a:lnTo>
                  <a:pt x="2890024" y="0"/>
                </a:lnTo>
                <a:lnTo>
                  <a:pt x="2890024" y="2967931"/>
                </a:lnTo>
                <a:lnTo>
                  <a:pt x="0" y="2967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2E09856-66E5-A862-19DB-09F2A3AD275B}"/>
              </a:ext>
            </a:extLst>
          </p:cNvPr>
          <p:cNvSpPr/>
          <p:nvPr/>
        </p:nvSpPr>
        <p:spPr>
          <a:xfrm>
            <a:off x="-1396348" y="8680301"/>
            <a:ext cx="4214440" cy="3455841"/>
          </a:xfrm>
          <a:custGeom>
            <a:avLst/>
            <a:gdLst/>
            <a:ahLst/>
            <a:cxnLst/>
            <a:rect l="l" t="t" r="r" b="b"/>
            <a:pathLst>
              <a:path w="4214440" h="3455841">
                <a:moveTo>
                  <a:pt x="0" y="0"/>
                </a:moveTo>
                <a:lnTo>
                  <a:pt x="4214440" y="0"/>
                </a:lnTo>
                <a:lnTo>
                  <a:pt x="4214440" y="3455841"/>
                </a:lnTo>
                <a:lnTo>
                  <a:pt x="0" y="345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023E9D2-A68D-A492-280C-238639021527}"/>
              </a:ext>
            </a:extLst>
          </p:cNvPr>
          <p:cNvSpPr/>
          <p:nvPr/>
        </p:nvSpPr>
        <p:spPr>
          <a:xfrm>
            <a:off x="-50368" y="2360211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7"/>
                </a:lnTo>
                <a:lnTo>
                  <a:pt x="0" y="900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40EAC8-1F71-CD44-2455-802BED355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2205" y="2986137"/>
            <a:ext cx="13083591" cy="4367163"/>
          </a:xfrm>
          <a:prstGeom prst="rect">
            <a:avLst/>
          </a:prstGeom>
        </p:spPr>
      </p:pic>
      <p:sp>
        <p:nvSpPr>
          <p:cNvPr id="13" name="TextBox 11">
            <a:extLst>
              <a:ext uri="{FF2B5EF4-FFF2-40B4-BE49-F238E27FC236}">
                <a16:creationId xmlns:a16="http://schemas.microsoft.com/office/drawing/2014/main" id="{C017B271-3368-4E7E-37CE-E711C1557B72}"/>
              </a:ext>
            </a:extLst>
          </p:cNvPr>
          <p:cNvSpPr txBox="1"/>
          <p:nvPr/>
        </p:nvSpPr>
        <p:spPr>
          <a:xfrm>
            <a:off x="1697742" y="7747648"/>
            <a:ext cx="1489251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Kết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quả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huấn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luyện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bộ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dữ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liệu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bằng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mô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</a:t>
            </a:r>
            <a:r>
              <a:rPr lang="en-US" sz="3600" spc="-40" dirty="0" err="1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hình</a:t>
            </a:r>
            <a:r>
              <a:rPr lang="en-US" sz="3600" spc="-40" dirty="0">
                <a:solidFill>
                  <a:srgbClr val="1B1C54"/>
                </a:solidFill>
                <a:latin typeface="Bai Jamjuree" panose="020B0604020202020204" charset="-34"/>
                <a:cs typeface="Bai Jamjuree" panose="020B0604020202020204" charset="-34"/>
              </a:rPr>
              <a:t> Random Forest Regression</a:t>
            </a:r>
            <a:endParaRPr lang="en-US" sz="3600" dirty="0">
              <a:solidFill>
                <a:srgbClr val="1B1C54"/>
              </a:solidFill>
              <a:latin typeface="Bai Jamjuree Bold" panose="020B0604020202020204" charset="-34"/>
              <a:cs typeface="Bai Jamjuree Bold" panose="020B0604020202020204" charset="-34"/>
            </a:endParaRPr>
          </a:p>
        </p:txBody>
      </p:sp>
      <p:pic>
        <p:nvPicPr>
          <p:cNvPr id="12" name="Picture 1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DD1680F3-0B5A-0D5A-22AA-D27C1E00E0F1}"/>
              </a:ext>
            </a:extLst>
          </p:cNvPr>
          <p:cNvPicPr/>
          <p:nvPr/>
        </p:nvPicPr>
        <p:blipFill>
          <a:blip r:embed="rId8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E6C342-D022-11FB-4AC9-0CDDFD826F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11" name="Freeform 8">
            <a:extLst>
              <a:ext uri="{FF2B5EF4-FFF2-40B4-BE49-F238E27FC236}">
                <a16:creationId xmlns:a16="http://schemas.microsoft.com/office/drawing/2014/main" id="{D9CCE689-7C92-89D1-559C-262128A31C4C}"/>
              </a:ext>
            </a:extLst>
          </p:cNvPr>
          <p:cNvSpPr/>
          <p:nvPr/>
        </p:nvSpPr>
        <p:spPr>
          <a:xfrm flipH="1">
            <a:off x="-1906192" y="-605688"/>
            <a:ext cx="5156756" cy="2012695"/>
          </a:xfrm>
          <a:custGeom>
            <a:avLst/>
            <a:gdLst/>
            <a:ahLst/>
            <a:cxnLst/>
            <a:rect l="l" t="t" r="r" b="b"/>
            <a:pathLst>
              <a:path w="5156756" h="2462351">
                <a:moveTo>
                  <a:pt x="5156756" y="0"/>
                </a:moveTo>
                <a:lnTo>
                  <a:pt x="0" y="0"/>
                </a:lnTo>
                <a:lnTo>
                  <a:pt x="0" y="2462351"/>
                </a:lnTo>
                <a:lnTo>
                  <a:pt x="5156756" y="2462351"/>
                </a:lnTo>
                <a:lnTo>
                  <a:pt x="515675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2234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709928DC-3B9A-5F71-8C1B-820EC38A7EC3}"/>
              </a:ext>
            </a:extLst>
          </p:cNvPr>
          <p:cNvSpPr txBox="1"/>
          <p:nvPr/>
        </p:nvSpPr>
        <p:spPr>
          <a:xfrm>
            <a:off x="193467" y="84855"/>
            <a:ext cx="103481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67"/>
              </a:lnSpc>
              <a:spcBef>
                <a:spcPct val="0"/>
              </a:spcBef>
            </a:pPr>
            <a:r>
              <a:rPr lang="en-US" sz="7048" dirty="0">
                <a:solidFill>
                  <a:srgbClr val="FFFFFF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I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87759D91-D2A9-FDEE-E4D7-B75E398D13AF}"/>
              </a:ext>
            </a:extLst>
          </p:cNvPr>
          <p:cNvSpPr txBox="1"/>
          <p:nvPr/>
        </p:nvSpPr>
        <p:spPr>
          <a:xfrm>
            <a:off x="2765513" y="33018"/>
            <a:ext cx="9121687" cy="9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9"/>
              </a:lnSpc>
              <a:spcBef>
                <a:spcPct val="0"/>
              </a:spcBef>
            </a:pPr>
            <a:r>
              <a:rPr lang="en-US" sz="40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TỔNG QUAN ĐỀ TÀI</a:t>
            </a: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C59474F9-CCB3-60D7-F027-7B200AC2DA99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A7831AC6-D8F3-38BA-4BD5-069C1654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15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99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16B3-BD89-CB7A-32EB-1BCCC879E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">
            <a:extLst>
              <a:ext uri="{FF2B5EF4-FFF2-40B4-BE49-F238E27FC236}">
                <a16:creationId xmlns:a16="http://schemas.microsoft.com/office/drawing/2014/main" id="{E8C93E42-371B-7A64-B8E4-61072C06445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735" b="-497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3D4DF56-C35E-98BA-3CD4-AE4552C930B1}"/>
              </a:ext>
            </a:extLst>
          </p:cNvPr>
          <p:cNvSpPr/>
          <p:nvPr/>
        </p:nvSpPr>
        <p:spPr>
          <a:xfrm>
            <a:off x="-1587332" y="8680799"/>
            <a:ext cx="4335636" cy="3902073"/>
          </a:xfrm>
          <a:custGeom>
            <a:avLst/>
            <a:gdLst/>
            <a:ahLst/>
            <a:cxnLst/>
            <a:rect l="l" t="t" r="r" b="b"/>
            <a:pathLst>
              <a:path w="4335636" h="3902073">
                <a:moveTo>
                  <a:pt x="0" y="0"/>
                </a:moveTo>
                <a:lnTo>
                  <a:pt x="4335636" y="0"/>
                </a:lnTo>
                <a:lnTo>
                  <a:pt x="4335636" y="3902072"/>
                </a:lnTo>
                <a:lnTo>
                  <a:pt x="0" y="3902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41396BF-546A-A19F-E017-EE46E019E0E7}"/>
              </a:ext>
            </a:extLst>
          </p:cNvPr>
          <p:cNvSpPr/>
          <p:nvPr/>
        </p:nvSpPr>
        <p:spPr>
          <a:xfrm rot="5400000">
            <a:off x="10374777" y="-1821931"/>
            <a:ext cx="3841260" cy="3029794"/>
          </a:xfrm>
          <a:custGeom>
            <a:avLst/>
            <a:gdLst/>
            <a:ahLst/>
            <a:cxnLst/>
            <a:rect l="l" t="t" r="r" b="b"/>
            <a:pathLst>
              <a:path w="3841260" h="3029794">
                <a:moveTo>
                  <a:pt x="0" y="0"/>
                </a:moveTo>
                <a:lnTo>
                  <a:pt x="3841260" y="0"/>
                </a:lnTo>
                <a:lnTo>
                  <a:pt x="3841260" y="3029794"/>
                </a:lnTo>
                <a:lnTo>
                  <a:pt x="0" y="3029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2" name="Picture 4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76FAA205-4A4D-958E-C30D-7DE885449D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F8EFFB6-4E4A-B566-07F7-1D9A743EBF1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36" name="TextBox 9">
            <a:extLst>
              <a:ext uri="{FF2B5EF4-FFF2-40B4-BE49-F238E27FC236}">
                <a16:creationId xmlns:a16="http://schemas.microsoft.com/office/drawing/2014/main" id="{D8CD6F0C-88C0-8159-0FAD-F7A48B7F1298}"/>
              </a:ext>
            </a:extLst>
          </p:cNvPr>
          <p:cNvSpPr txBox="1"/>
          <p:nvPr/>
        </p:nvSpPr>
        <p:spPr>
          <a:xfrm>
            <a:off x="4032810" y="5248134"/>
            <a:ext cx="5108295" cy="218136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1" algn="ctr">
              <a:lnSpc>
                <a:spcPts val="11200"/>
              </a:lnSpc>
            </a:pPr>
            <a:r>
              <a:rPr lang="en-US" sz="28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V.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D2690015-87E3-F950-74CD-BA08D1314AFC}"/>
              </a:ext>
            </a:extLst>
          </p:cNvPr>
          <p:cNvSpPr txBox="1"/>
          <p:nvPr/>
        </p:nvSpPr>
        <p:spPr>
          <a:xfrm>
            <a:off x="8988705" y="3728978"/>
            <a:ext cx="5108295" cy="286232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1">
              <a:spcAft>
                <a:spcPts val="1200"/>
              </a:spcAft>
            </a:pPr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KẾT </a:t>
            </a:r>
          </a:p>
          <a:p>
            <a:pPr lvl="1">
              <a:spcAft>
                <a:spcPts val="1200"/>
              </a:spcAft>
            </a:pPr>
            <a:r>
              <a:rPr lang="en-US" sz="8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ea typeface="Dynamo Medium"/>
                <a:cs typeface="Dynamo Medium"/>
                <a:sym typeface="Dynamo Medium"/>
              </a:rPr>
              <a:t>LUẬN</a:t>
            </a: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7D648700-AA64-0822-87D6-CC38D846CBA2}"/>
              </a:ext>
            </a:extLst>
          </p:cNvPr>
          <p:cNvSpPr/>
          <p:nvPr/>
        </p:nvSpPr>
        <p:spPr>
          <a:xfrm>
            <a:off x="0" y="-434848"/>
            <a:ext cx="4773662" cy="1783466"/>
          </a:xfrm>
          <a:custGeom>
            <a:avLst/>
            <a:gdLst/>
            <a:ahLst/>
            <a:cxnLst/>
            <a:rect l="l" t="t" r="r" b="b"/>
            <a:pathLst>
              <a:path w="4773662" h="1783466">
                <a:moveTo>
                  <a:pt x="0" y="0"/>
                </a:moveTo>
                <a:lnTo>
                  <a:pt x="4773662" y="0"/>
                </a:lnTo>
                <a:lnTo>
                  <a:pt x="4773662" y="1783466"/>
                </a:lnTo>
                <a:lnTo>
                  <a:pt x="0" y="1783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84033" b="-8362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A811A6CF-E39C-255C-A288-E1F8B40C19F8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AFB92B0-C083-486A-AEC8-2B356FA0B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16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52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25B6F-B2B0-DB18-2B30-4CFCAC52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94AD66-234D-27E6-96BC-3DF4075FBD6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0D4D04C-76C2-746F-08FF-8CA0DB01BDCA}"/>
              </a:ext>
            </a:extLst>
          </p:cNvPr>
          <p:cNvSpPr/>
          <p:nvPr/>
        </p:nvSpPr>
        <p:spPr>
          <a:xfrm rot="9739814">
            <a:off x="-1445012" y="1665074"/>
            <a:ext cx="2890024" cy="2967932"/>
          </a:xfrm>
          <a:custGeom>
            <a:avLst/>
            <a:gdLst/>
            <a:ahLst/>
            <a:cxnLst/>
            <a:rect l="l" t="t" r="r" b="b"/>
            <a:pathLst>
              <a:path w="2890024" h="2967932">
                <a:moveTo>
                  <a:pt x="0" y="0"/>
                </a:moveTo>
                <a:lnTo>
                  <a:pt x="2890024" y="0"/>
                </a:lnTo>
                <a:lnTo>
                  <a:pt x="2890024" y="2967931"/>
                </a:lnTo>
                <a:lnTo>
                  <a:pt x="0" y="2967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13EA953-A6AA-FA40-2833-A6049E788609}"/>
              </a:ext>
            </a:extLst>
          </p:cNvPr>
          <p:cNvSpPr/>
          <p:nvPr/>
        </p:nvSpPr>
        <p:spPr>
          <a:xfrm>
            <a:off x="-1396348" y="8680301"/>
            <a:ext cx="4214440" cy="3455841"/>
          </a:xfrm>
          <a:custGeom>
            <a:avLst/>
            <a:gdLst/>
            <a:ahLst/>
            <a:cxnLst/>
            <a:rect l="l" t="t" r="r" b="b"/>
            <a:pathLst>
              <a:path w="4214440" h="3455841">
                <a:moveTo>
                  <a:pt x="0" y="0"/>
                </a:moveTo>
                <a:lnTo>
                  <a:pt x="4214440" y="0"/>
                </a:lnTo>
                <a:lnTo>
                  <a:pt x="4214440" y="3455841"/>
                </a:lnTo>
                <a:lnTo>
                  <a:pt x="0" y="345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90FA07C-C738-0327-041B-4D62644212EA}"/>
              </a:ext>
            </a:extLst>
          </p:cNvPr>
          <p:cNvSpPr/>
          <p:nvPr/>
        </p:nvSpPr>
        <p:spPr>
          <a:xfrm>
            <a:off x="-50368" y="2360211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7"/>
                </a:lnTo>
                <a:lnTo>
                  <a:pt x="0" y="900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D672979-160E-DE14-B257-60B42D6C3310}"/>
              </a:ext>
            </a:extLst>
          </p:cNvPr>
          <p:cNvSpPr txBox="1"/>
          <p:nvPr/>
        </p:nvSpPr>
        <p:spPr>
          <a:xfrm>
            <a:off x="1427983" y="2621538"/>
            <a:ext cx="15432033" cy="573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Đề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tài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đã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thực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hiện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việc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phân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tích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và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dự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đoán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giá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các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sản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phẩm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thuộc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danh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mục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đồ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dùng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“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Mẹ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và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bé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”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trên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địa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bàn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thành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phố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</a:t>
            </a:r>
            <a:r>
              <a:rPr lang="en-US" sz="3600" b="1" dirty="0" err="1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Hồ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 Chí Minh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bằng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cách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sử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dụng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mô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hình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b="1" dirty="0">
                <a:solidFill>
                  <a:srgbClr val="1B1C54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Random Forest Regression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. </a:t>
            </a:r>
          </a:p>
          <a:p>
            <a:pPr algn="just">
              <a:lnSpc>
                <a:spcPts val="4480"/>
              </a:lnSpc>
            </a:pPr>
            <a:endParaRPr lang="en-US" sz="3600" dirty="0">
              <a:solidFill>
                <a:srgbClr val="1B1C54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algn="just">
              <a:lnSpc>
                <a:spcPts val="4480"/>
              </a:lnSpc>
            </a:pP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Vấn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đề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việc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hiệu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suất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huấn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luyện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rất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thấp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xuất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phát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từ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việc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bộ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dữ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liệu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thu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thập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từ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web </a:t>
            </a:r>
            <a:r>
              <a:rPr lang="en-US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đã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bị</a:t>
            </a:r>
            <a:r>
              <a:rPr lang="en-US" sz="3600" dirty="0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chênh</a:t>
            </a:r>
            <a:r>
              <a:rPr lang="en-US" sz="3600" dirty="0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lệch</a:t>
            </a:r>
            <a:r>
              <a:rPr lang="en-US" sz="3600" dirty="0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khá</a:t>
            </a:r>
            <a:r>
              <a:rPr lang="en-US" sz="3600" dirty="0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nặng</a:t>
            </a:r>
            <a:r>
              <a:rPr lang="en-US" sz="3600" dirty="0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 ở </a:t>
            </a:r>
            <a:r>
              <a:rPr lang="en-US" sz="3600" dirty="0" err="1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nhiều</a:t>
            </a:r>
            <a:r>
              <a:rPr lang="en-US" sz="3600" dirty="0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 </a:t>
            </a:r>
            <a:r>
              <a:rPr lang="en-US" sz="3600" dirty="0" err="1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biến</a:t>
            </a: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. </a:t>
            </a:r>
          </a:p>
          <a:p>
            <a:pPr algn="just">
              <a:lnSpc>
                <a:spcPts val="4480"/>
              </a:lnSpc>
            </a:pPr>
            <a:endParaRPr lang="en-US" sz="3600" dirty="0">
              <a:solidFill>
                <a:srgbClr val="1B1C54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marL="0" lvl="0" indent="0" algn="just">
              <a:lnSpc>
                <a:spcPts val="4480"/>
              </a:lnSpc>
              <a:spcBef>
                <a:spcPct val="0"/>
              </a:spcBef>
            </a:pPr>
            <a:r>
              <a:rPr lang="en-US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D</a:t>
            </a:r>
            <a:r>
              <a:rPr lang="vi-VN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ựa</a:t>
            </a:r>
            <a:r>
              <a:rPr lang="vi-VN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 vào </a:t>
            </a:r>
            <a:r>
              <a:rPr lang="vi-VN" sz="3600" dirty="0" err="1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dashboard</a:t>
            </a:r>
            <a:r>
              <a:rPr lang="vi-VN" sz="3600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, có thể khẳng định rằng: </a:t>
            </a:r>
            <a:r>
              <a:rPr lang="vi-VN" sz="3600" b="1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các sản phẩm có mức </a:t>
            </a:r>
            <a:r>
              <a:rPr lang="vi-VN" sz="3600" b="1" dirty="0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giá bình dân </a:t>
            </a:r>
            <a:r>
              <a:rPr lang="vi-VN" sz="3600" b="1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và </a:t>
            </a:r>
            <a:r>
              <a:rPr lang="vi-VN" sz="3600" b="1" dirty="0">
                <a:solidFill>
                  <a:srgbClr val="1B1C54"/>
                </a:solidFill>
                <a:latin typeface="Bai Jamjuree Bold" panose="020B0604020202020204" charset="-34"/>
                <a:ea typeface="Bai Jamjuree"/>
                <a:cs typeface="Bai Jamjuree Bold" panose="020B0604020202020204" charset="-34"/>
                <a:sym typeface="Bai Jamjuree"/>
              </a:rPr>
              <a:t>có nhiều lượt đánh giá </a:t>
            </a:r>
            <a:r>
              <a:rPr lang="vi-VN" sz="3600" b="1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được xem được </a:t>
            </a:r>
            <a:r>
              <a:rPr lang="vi-VN" sz="3600" b="1" u="sng" dirty="0">
                <a:solidFill>
                  <a:srgbClr val="1B1C54"/>
                </a:solidFill>
                <a:latin typeface="Bai Jamjuree"/>
                <a:ea typeface="Bai Jamjuree"/>
                <a:cs typeface="Bai Jamjuree"/>
                <a:sym typeface="Bai Jamjuree"/>
              </a:rPr>
              <a:t>xu hướng mua sắm của khách hàng. </a:t>
            </a:r>
            <a:endParaRPr lang="en-US" sz="3600" b="1" u="sng" dirty="0">
              <a:solidFill>
                <a:srgbClr val="1B1C54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12" name="Picture 11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5EFCFC0E-5941-CC82-77AC-F0F31EE9475A}"/>
              </a:ext>
            </a:extLst>
          </p:cNvPr>
          <p:cNvPicPr/>
          <p:nvPr/>
        </p:nvPicPr>
        <p:blipFill>
          <a:blip r:embed="rId7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A9F68B-EC52-7893-70C1-A9B5D29F369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8244" r="4939" b="9636"/>
          <a:stretch>
            <a:fillRect/>
          </a:stretch>
        </p:blipFill>
        <p:spPr>
          <a:xfrm>
            <a:off x="16238413" y="247303"/>
            <a:ext cx="1744787" cy="1159704"/>
          </a:xfrm>
          <a:prstGeom prst="rect">
            <a:avLst/>
          </a:prstGeom>
        </p:spPr>
      </p:pic>
      <p:sp>
        <p:nvSpPr>
          <p:cNvPr id="11" name="Freeform 8">
            <a:extLst>
              <a:ext uri="{FF2B5EF4-FFF2-40B4-BE49-F238E27FC236}">
                <a16:creationId xmlns:a16="http://schemas.microsoft.com/office/drawing/2014/main" id="{245B84A9-B257-A25D-C6D1-7A57B8257E7C}"/>
              </a:ext>
            </a:extLst>
          </p:cNvPr>
          <p:cNvSpPr/>
          <p:nvPr/>
        </p:nvSpPr>
        <p:spPr>
          <a:xfrm flipH="1">
            <a:off x="-1906192" y="-605688"/>
            <a:ext cx="5156756" cy="2012695"/>
          </a:xfrm>
          <a:custGeom>
            <a:avLst/>
            <a:gdLst/>
            <a:ahLst/>
            <a:cxnLst/>
            <a:rect l="l" t="t" r="r" b="b"/>
            <a:pathLst>
              <a:path w="5156756" h="2462351">
                <a:moveTo>
                  <a:pt x="5156756" y="0"/>
                </a:moveTo>
                <a:lnTo>
                  <a:pt x="0" y="0"/>
                </a:lnTo>
                <a:lnTo>
                  <a:pt x="0" y="2462351"/>
                </a:lnTo>
                <a:lnTo>
                  <a:pt x="5156756" y="2462351"/>
                </a:lnTo>
                <a:lnTo>
                  <a:pt x="515675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b="-2234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E5CA3146-4190-ED25-EEE7-6AD8CFE03D5E}"/>
              </a:ext>
            </a:extLst>
          </p:cNvPr>
          <p:cNvSpPr txBox="1"/>
          <p:nvPr/>
        </p:nvSpPr>
        <p:spPr>
          <a:xfrm>
            <a:off x="193467" y="84855"/>
            <a:ext cx="103481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67"/>
              </a:lnSpc>
              <a:spcBef>
                <a:spcPct val="0"/>
              </a:spcBef>
            </a:pPr>
            <a:r>
              <a:rPr lang="en-US" sz="7048" dirty="0">
                <a:solidFill>
                  <a:srgbClr val="FFFFFF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I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15769EB2-D90A-9C21-F75F-0A5ED4B7D115}"/>
              </a:ext>
            </a:extLst>
          </p:cNvPr>
          <p:cNvSpPr txBox="1"/>
          <p:nvPr/>
        </p:nvSpPr>
        <p:spPr>
          <a:xfrm>
            <a:off x="2765513" y="33018"/>
            <a:ext cx="9121687" cy="9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9"/>
              </a:lnSpc>
              <a:spcBef>
                <a:spcPct val="0"/>
              </a:spcBef>
            </a:pPr>
            <a:r>
              <a:rPr lang="en-US" sz="40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TỔNG QUAN ĐỀ TÀI</a:t>
            </a: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CF16FB19-1570-1E1B-C59B-EE5394C8271A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68661237-70ED-B8C4-1A25-BAC1DCF6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17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84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0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8A28FB0E-176C-FCB1-DA9C-9F53575C717E}"/>
              </a:ext>
            </a:extLst>
          </p:cNvPr>
          <p:cNvPicPr/>
          <p:nvPr/>
        </p:nvPicPr>
        <p:blipFill>
          <a:blip r:embed="rId4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37" y="1623476"/>
            <a:ext cx="8718326" cy="7040047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 rot="9739814">
            <a:off x="16842988" y="1662595"/>
            <a:ext cx="2890024" cy="2967932"/>
          </a:xfrm>
          <a:custGeom>
            <a:avLst/>
            <a:gdLst/>
            <a:ahLst/>
            <a:cxnLst/>
            <a:rect l="l" t="t" r="r" b="b"/>
            <a:pathLst>
              <a:path w="2890024" h="2967932">
                <a:moveTo>
                  <a:pt x="0" y="0"/>
                </a:moveTo>
                <a:lnTo>
                  <a:pt x="2890024" y="0"/>
                </a:lnTo>
                <a:lnTo>
                  <a:pt x="2890024" y="2967931"/>
                </a:lnTo>
                <a:lnTo>
                  <a:pt x="0" y="2967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2293659" y="7959230"/>
            <a:ext cx="5195118" cy="4259996"/>
          </a:xfrm>
          <a:custGeom>
            <a:avLst/>
            <a:gdLst/>
            <a:ahLst/>
            <a:cxnLst/>
            <a:rect l="l" t="t" r="r" b="b"/>
            <a:pathLst>
              <a:path w="5195118" h="4259996">
                <a:moveTo>
                  <a:pt x="0" y="0"/>
                </a:moveTo>
                <a:lnTo>
                  <a:pt x="5195117" y="0"/>
                </a:lnTo>
                <a:lnTo>
                  <a:pt x="5195117" y="4259997"/>
                </a:lnTo>
                <a:lnTo>
                  <a:pt x="0" y="4259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7283638" y="2245963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7"/>
                </a:lnTo>
                <a:lnTo>
                  <a:pt x="0" y="900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0" y="-434848"/>
            <a:ext cx="4773662" cy="1783466"/>
          </a:xfrm>
          <a:custGeom>
            <a:avLst/>
            <a:gdLst/>
            <a:ahLst/>
            <a:cxnLst/>
            <a:rect l="l" t="t" r="r" b="b"/>
            <a:pathLst>
              <a:path w="4773662" h="1783466">
                <a:moveTo>
                  <a:pt x="0" y="0"/>
                </a:moveTo>
                <a:lnTo>
                  <a:pt x="4773662" y="0"/>
                </a:lnTo>
                <a:lnTo>
                  <a:pt x="4773662" y="1783466"/>
                </a:lnTo>
                <a:lnTo>
                  <a:pt x="0" y="1783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84033" b="-8362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C39947-8644-A6DC-601C-0EB797B3F5C2}"/>
              </a:ext>
            </a:extLst>
          </p:cNvPr>
          <p:cNvGrpSpPr/>
          <p:nvPr/>
        </p:nvGrpSpPr>
        <p:grpSpPr>
          <a:xfrm>
            <a:off x="6723058" y="567405"/>
            <a:ext cx="4596511" cy="1375695"/>
            <a:chOff x="7121515" y="567405"/>
            <a:chExt cx="4596511" cy="137569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70B8EF5-7E60-FC3B-1500-067245AEB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07" b="2684"/>
            <a:stretch>
              <a:fillRect/>
            </a:stretch>
          </p:blipFill>
          <p:spPr>
            <a:xfrm>
              <a:off x="9648278" y="567405"/>
              <a:ext cx="2069748" cy="137569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65D9495-B62E-E219-25D3-5C51DCF16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86" t="8244" r="4939" b="9636"/>
            <a:stretch>
              <a:fillRect/>
            </a:stretch>
          </p:blipFill>
          <p:spPr>
            <a:xfrm>
              <a:off x="7121515" y="567405"/>
              <a:ext cx="2069748" cy="1375695"/>
            </a:xfrm>
            <a:prstGeom prst="rect">
              <a:avLst/>
            </a:prstGeom>
          </p:spPr>
        </p:pic>
      </p:grpSp>
      <p:sp>
        <p:nvSpPr>
          <p:cNvPr id="17" name="TextBox 2">
            <a:extLst>
              <a:ext uri="{FF2B5EF4-FFF2-40B4-BE49-F238E27FC236}">
                <a16:creationId xmlns:a16="http://schemas.microsoft.com/office/drawing/2014/main" id="{8BA96745-277E-63C3-8C2A-0784DD2D11D1}"/>
              </a:ext>
            </a:extLst>
          </p:cNvPr>
          <p:cNvSpPr txBox="1"/>
          <p:nvPr/>
        </p:nvSpPr>
        <p:spPr>
          <a:xfrm>
            <a:off x="1554218" y="5154559"/>
            <a:ext cx="15179563" cy="2073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2040"/>
              </a:lnSpc>
              <a:spcBef>
                <a:spcPct val="0"/>
              </a:spcBef>
            </a:pPr>
            <a:r>
              <a:rPr lang="en-US" sz="23900" dirty="0">
                <a:solidFill>
                  <a:srgbClr val="1B1C54"/>
                </a:solidFill>
                <a:latin typeface="DC-Monument Extended Ultrabold" pitchFamily="50" charset="0"/>
                <a:ea typeface="Baloo"/>
                <a:cs typeface="Baloo"/>
                <a:sym typeface="Baloo"/>
              </a:rPr>
              <a:t>Q&amp;A</a:t>
            </a: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B6E45440-0B87-8CAF-F840-6430B8E48D90}"/>
              </a:ext>
            </a:extLst>
          </p:cNvPr>
          <p:cNvSpPr/>
          <p:nvPr/>
        </p:nvSpPr>
        <p:spPr>
          <a:xfrm flipH="1">
            <a:off x="14621234" y="9583136"/>
            <a:ext cx="6583717" cy="1464877"/>
          </a:xfrm>
          <a:custGeom>
            <a:avLst/>
            <a:gdLst/>
            <a:ahLst/>
            <a:cxnLst/>
            <a:rect l="l" t="t" r="r" b="b"/>
            <a:pathLst>
              <a:path w="6583717" h="1464877">
                <a:moveTo>
                  <a:pt x="6583717" y="0"/>
                </a:moveTo>
                <a:lnTo>
                  <a:pt x="0" y="0"/>
                </a:lnTo>
                <a:lnTo>
                  <a:pt x="0" y="1464878"/>
                </a:lnTo>
                <a:lnTo>
                  <a:pt x="6583717" y="1464878"/>
                </a:lnTo>
                <a:lnTo>
                  <a:pt x="65837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E32135AA-33B7-C9C0-D51E-87926908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306800" y="9583136"/>
            <a:ext cx="1021387" cy="624246"/>
          </a:xfrm>
        </p:spPr>
        <p:txBody>
          <a:bodyPr/>
          <a:lstStyle/>
          <a:p>
            <a:pPr algn="ctr"/>
            <a:fld id="{B6F15528-21DE-4FAA-801E-634DDDAF4B2B}" type="slidenum">
              <a:rPr lang="en-US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C-Monument Extended Ultrabold" pitchFamily="50" charset="0"/>
                <a:cs typeface="Baloo" panose="020B0604020202020204" charset="0"/>
              </a:rPr>
              <a:pPr algn="ctr"/>
              <a:t>18</a:t>
            </a:fld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C-Monument Extended Ultrabold" pitchFamily="50" charset="0"/>
              <a:cs typeface="Baloo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988</Words>
  <Application>Microsoft Office PowerPoint</Application>
  <PresentationFormat>Custom</PresentationFormat>
  <Paragraphs>212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UTM Aircona</vt:lpstr>
      <vt:lpstr>Arial</vt:lpstr>
      <vt:lpstr>DC-Monument Extended Ultrabold</vt:lpstr>
      <vt:lpstr>Bai Jamjuree Bold</vt:lpstr>
      <vt:lpstr>Calibri</vt:lpstr>
      <vt:lpstr>Bai Jamjuree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IE313</dc:title>
  <cp:lastModifiedBy>Daniel Nguyễn</cp:lastModifiedBy>
  <cp:revision>11</cp:revision>
  <dcterms:created xsi:type="dcterms:W3CDTF">2006-08-16T00:00:00Z</dcterms:created>
  <dcterms:modified xsi:type="dcterms:W3CDTF">2026-05-30T18:50:32Z</dcterms:modified>
  <dc:identifier>DAG74j6UyUY</dc:identifier>
</cp:coreProperties>
</file>